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85416"/>
            <a:ext cx="11277295" cy="3931920"/>
          </a:xfrm>
          <a:prstGeom prst="roundRect">
            <a:avLst>
              <a:gd name="adj" fmla="val 4651"/>
            </a:avLst>
          </a:prstGeom>
          <a:solidFill>
            <a:srgbClr val="17437D"/>
          </a:solidFill>
          <a:ln w="12700">
            <a:solidFill>
              <a:srgbClr val="17437D"/>
            </a:solidFill>
            <a:prstDash val="solid"/>
          </a:ln>
          <a:effectLst>
            <a:outerShdw sx="100000" sy="100000" kx="0" ky="0" algn="bl" rotWithShape="0" blurRad="190500" dist="50800" dir="2700000">
              <a:srgbClr val="2C1E74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" y="2331720"/>
            <a:ext cx="5029200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저득점 상담 분석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운영 대응 도구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3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CS센터 챗봇 NPS 분석툴 — 개발 기획서  Draft v1.0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3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06. 18  ·  Samsung SDS × Brandlogy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3383280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60120" y="5596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개발 기능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4937760"/>
            <a:ext cx="3383280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7단계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09160" y="5596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흐름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4937760"/>
            <a:ext cx="3383280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58200" y="5596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개발 단위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분석툴 개발 기획서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SDS  ·  CS 챗봇 운영 분석 플랫폼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개발 목적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목적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NPS 저득점 상담 데이터를 SDS 내부에서 재검증하고 원인을 자동 분석한다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85416"/>
            <a:ext cx="11277295" cy="1280160"/>
          </a:xfrm>
          <a:prstGeom prst="roundRect">
            <a:avLst>
              <a:gd name="adj" fmla="val 9286"/>
            </a:avLst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22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24328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삼성전자에서 엑셀로 전달받은 NPS 6점 이하 챗봇 상담 데이터를 SDS 내부에서 재검증하고, 상담 ID 기준으로 SDS TRACE · ES 검색 결과 · Context · 에러 로그 · 답변 전문을 조회한 뒤 Gauss LLM으로 불만 원인과 SDS 책임 여부를 자동 판단하는 운영 분석 도구를 개발한다.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361188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수집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41970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ID 기준으로 SDS TRACE, ES, Context, 에러 로그를 자동 조회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794760"/>
            <a:ext cx="91440" cy="91440"/>
          </a:xfrm>
          <a:prstGeom prst="oval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3648456"/>
            <a:ext cx="361188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53128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자동 판단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53128" y="41970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LLM이 불만 원인, SDS 책임 여부, 무응답 여부를 종합 판단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53128" y="3794760"/>
            <a:ext cx="91440" cy="91440"/>
          </a:xfrm>
          <a:prstGeom prst="oval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3648456"/>
            <a:ext cx="361188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47888" y="41970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건 자동 분리 → 운영자가 확정 · 상태값 관리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47888" y="3794760"/>
            <a:ext cx="91440" cy="91440"/>
          </a:xfrm>
          <a:prstGeom prst="oval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522976"/>
            <a:ext cx="11277295" cy="804672"/>
          </a:xfrm>
          <a:prstGeom prst="roundRect">
            <a:avLst>
              <a:gd name="adj" fmla="val 14773"/>
            </a:avLst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6601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개발 범위 원칙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9161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4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기반 RCA 분석 · PostgreSQL 저장 · UI 리뷰 큐 · 대시보드는 포함  /  골든셋 평가 · Quality Gate · 실험 · 배포 승인 · 시뮬레이션은 제외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개발 범위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범위 요약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개발은 NPS 엑셀 업로드 기반 운영 분석 도구에 집중한다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85416"/>
            <a:ext cx="5394960" cy="4078224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350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포함 범위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734056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건별 상담 목록 관리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상세 조회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ID 기준 SDS TRACE 자동 조회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내 ES / Context / 에러 로그 조회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기반 자동 분석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 원인 분류 · SDS 책임 여부 판정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판단값과 SDS 분석 결과 비교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건 자동 검수 큐 분리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 및 확정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관리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간단 대시보드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36792" y="2185416"/>
            <a:ext cx="5394960" cy="4078224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350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제외 범위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734056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목록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자동 생성 / 수정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개선 요청서 생성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삼성전자 전달용 엑셀 다운로드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골든셋 기반 Quality Gate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/ 검색 설정 실험 자동화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 버전 관리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승인 워크플로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Synthetic User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필수 기능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개발 기능 (12개)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기능이 High 우선순위 — 1차 개발에 전부 포함된다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85416"/>
          <a:ext cx="11277295" cy="4078224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우선순위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NPS 엑셀 업로드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삼성전자에서 받은 NPS 6점 이하 상담 데이터를 업로드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엑셀 데이터 파싱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엑셀 항목을 시스템 데이터로 변환 (컬럼 매핑, 필수값 체크)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업로드 건별 목록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업로드 파일 단위 상담 목록 관리 (건수, 상태, 완료 건수)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분석 목록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업로드 건에 포함된 개별 상담 조회 (NPS 점수, 상태값)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상세 조회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대화내역, 답변 전문, 고객 코멘트, 삼성전자 판단값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분석 파이프라인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TRACE → ES/Context → Gauss LLM 종합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분석 결과 저장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 분류, 책임 영역, 판단 근거, 신뢰도, 비교 결과 저장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삼성전자 판단값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일치 / 불일치 / 판단불가 비교 표시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저신뢰 검수 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신뢰도 낮음·근거 부족·충돌 건 자동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운영자 검수/확정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원인, 책임 영역, 상태값 수정 및 최종 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상태값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미분석→분석중→분석완료→검수필요→SDS조치필요→콘텐츠개선→완료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간단 대시보드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업로드 건별 현황, 원인 분포, SDS 책임 비율, 무응답 건수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업무 흐름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흐름 (7단계)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수신부터 대시보드 반영까지 자동화된 분석 파이프라인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1744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17437D"/>
          </a:solidFill>
          <a:ln w="12700">
            <a:solidFill>
              <a:srgbClr val="17437D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744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1744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 &amp; 업로드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63344" y="3200400"/>
            <a:ext cx="130759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3986" y="3145536"/>
            <a:ext cx="73152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4512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64512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4512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조회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36112" y="3200400"/>
            <a:ext cx="130759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6754" y="3145536"/>
            <a:ext cx="73152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37280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3728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7280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 / Context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로그 수집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08880" y="3200400"/>
            <a:ext cx="130759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19522" y="3145536"/>
            <a:ext cx="73152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0048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10048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10048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분석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81648" y="3200400"/>
            <a:ext cx="130759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92290" y="3145536"/>
            <a:ext cx="73152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82816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82816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82816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판단값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54416" y="3200400"/>
            <a:ext cx="130759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5058" y="3145536"/>
            <a:ext cx="73152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55584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E06060"/>
          </a:solidFill>
          <a:ln w="12700">
            <a:solidFill>
              <a:srgbClr val="E0606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55584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55584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건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927184" y="3200400"/>
            <a:ext cx="130759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37826" y="3145536"/>
            <a:ext cx="73152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28352" y="2505456"/>
            <a:ext cx="1371600" cy="1463040"/>
          </a:xfrm>
          <a:prstGeom prst="roundRect">
            <a:avLst>
              <a:gd name="adj" fmla="val 8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128352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28352" y="2889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&amp;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반영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01304" y="413308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01304" y="4133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6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낮음 / 충돌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1744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컬럼 검증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64512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ID 기준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Key 매핑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37280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성공 여부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구성 확인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10048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원인·책임·무응답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산출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82816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일치/불일치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판단불가 표시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55584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· 확정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28352" y="47183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반영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집계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5852160"/>
            <a:ext cx="11277295" cy="384048"/>
          </a:xfrm>
          <a:prstGeom prst="roundRect">
            <a:avLst>
              <a:gd name="adj" fmla="val 23810"/>
            </a:avLst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8521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4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What  |  엑셀 수신부터 대시보드 반영까지 최소한의 사람 개입으로 운영 대응을 완결한다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화면 구성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/ 메뉴 구성 (9개)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화면 8개 + 선택 1개로 운영 전 주기를 커버한다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2368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68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현황 요약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2258568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2368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368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70832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업로드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0832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업로드 &amp; 검증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258568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0" y="2368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2368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19872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건 목록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19872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단위 진행 현황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17520" y="350215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502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분석 목록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38496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상담별 상태 / 원인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3392424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350215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502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7083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상세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70832" y="38496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데이터 확인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3392424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515600" y="350215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0" y="3502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1987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/ Context 상세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19872" y="38496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판단 근거 확인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526280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017520" y="463600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46360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" y="4636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결과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원인·책임·비교 결과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06240" y="4526280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0" y="463600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46360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70832" y="4636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검수 큐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370832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 &amp; 확정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55280" y="4526280"/>
            <a:ext cx="3474720" cy="914400"/>
          </a:xfrm>
          <a:prstGeom prst="roundRect">
            <a:avLst>
              <a:gd name="adj" fmla="val 13000"/>
            </a:avLst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515600" y="463600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0" y="46360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19872" y="4636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119872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기준 / 프롬프트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기술 구성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 구성 (9개)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UI · Python Backend · Gauss LLM을 중심으로 SDS 내부 인프라와 연계한다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76856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441448"/>
            <a:ext cx="73152" cy="585216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752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화면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33672" y="2276856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2441448"/>
            <a:ext cx="73152" cy="5852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1144" y="2752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· 파이프라인 · LLM 호출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2276856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4736" y="2441448"/>
            <a:ext cx="73152" cy="585216"/>
          </a:xfrm>
          <a:prstGeom prst="roundRect">
            <a:avLst>
              <a:gd name="adj" fmla="val 50000"/>
            </a:avLst>
          </a:prstGeom>
          <a:solidFill>
            <a:srgbClr val="17437D"/>
          </a:solidFill>
          <a:ln w="12700">
            <a:solidFill>
              <a:srgbClr val="1743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7616" y="2752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데이터 저장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575304"/>
            <a:ext cx="73152" cy="58521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조회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3410712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8264" y="3575304"/>
            <a:ext cx="73152" cy="58521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Elasticsearch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81144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 · Context 확인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10144" y="3410712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74736" y="3575304"/>
            <a:ext cx="73152" cy="585216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57616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분석 · 책임 판정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44568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" y="4709160"/>
            <a:ext cx="73152" cy="5852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690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4672" y="5020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플로우 연계 참조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33672" y="4544568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98264" y="4709160"/>
            <a:ext cx="73152" cy="58521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4690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81144" y="5020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콘텐츠 존재 확인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10144" y="4544568"/>
            <a:ext cx="35204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74736" y="4709160"/>
            <a:ext cx="73152" cy="58521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57616" y="4690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/ 권한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57616" y="5020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접근 제어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상태값 · 권한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정의 및 권한 관리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7단계 상태값과 4개 역할로 운영 전 단계를 통제한다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854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흐름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532888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미분석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935224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80944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383280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9000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분석완료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831336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77056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279392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EE2E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325112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SDS조치필요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727448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773168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콘텐츠개선필요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5175504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5221224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E8FFE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221224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870448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96188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 판단 원칙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621792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부재·오류 → 삼성전자 책임  /  검색·ES·Context·환각·무응답·장애 → SDS 책임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28232" y="21854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/ 권한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28232" y="2532888"/>
            <a:ext cx="5303520" cy="822960"/>
          </a:xfrm>
          <a:prstGeom prst="roundRect">
            <a:avLst>
              <a:gd name="adj" fmla="val 14444"/>
            </a:avLst>
          </a:prstGeom>
          <a:solidFill>
            <a:srgbClr val="F0F9FF"/>
          </a:solidFill>
          <a:ln w="508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29400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2935224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대시보드, 업로드 건, 상담 목록, 상세 조회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28232" y="3465576"/>
            <a:ext cx="5303520" cy="822960"/>
          </a:xfrm>
          <a:prstGeom prst="roundRect">
            <a:avLst>
              <a:gd name="adj" fmla="val 14444"/>
            </a:avLst>
          </a:prstGeom>
          <a:solidFill>
            <a:srgbClr val="EFF6FF"/>
          </a:solidFill>
          <a:ln w="508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29400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29400" y="3867912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업로드, 자동 분석 실행, 상태 변경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28232" y="4398264"/>
            <a:ext cx="5303520" cy="822960"/>
          </a:xfrm>
          <a:prstGeom prst="roundRect">
            <a:avLst>
              <a:gd name="adj" fmla="val 14444"/>
            </a:avLst>
          </a:prstGeom>
          <a:solidFill>
            <a:srgbClr val="EDE9FE"/>
          </a:solidFill>
          <a:ln w="508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29400" y="4489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629400" y="480060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검수 큐 확인, LLM 분석 결과 수정 · 확정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28232" y="5330952"/>
            <a:ext cx="5303520" cy="822960"/>
          </a:xfrm>
          <a:prstGeom prst="roundRect">
            <a:avLst>
              <a:gd name="adj" fmla="val 14444"/>
            </a:avLst>
          </a:prstGeom>
          <a:solidFill>
            <a:srgbClr val="F0FDF4"/>
          </a:solidFill>
          <a:ln w="508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29400" y="5422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29400" y="5733288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기준, 상태값, LLM 프롬프트 기준 관리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확인 필요 사항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착수 전 확인 사항 (9건)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방향은 확정 — 샘플 수령 후 9개 항목만 최종 확인하면 착수 가능하다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35915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3225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엑셀 컬럼명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수령 후 컬럼명만 조정 (항목은 확정)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36792" y="2231136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01384" y="235915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85432" y="23225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ID &amp; TRACE 매칭 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5432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trace_id / session_id / conversation_id 중 실제 연결 키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3191256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1546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조회 접근 방식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Storage / DB / 로그 시스템 중 실제 조회 경로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36792" y="3063240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01384" y="3191256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85432" y="31546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 / Context 조회 방식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5432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내부 포함 여부 vs 별도 ES 조회 필요 여부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95344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402336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39867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로그 기준 필드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261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무응답·무한대기 판단용 에러 코드, timeout, latency 기준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36792" y="3895344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01384" y="402336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1384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5432" y="39867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DBC 콘텐츠 존재 확인 방식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85432" y="4261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부실 vs 검색 실패 구분을 위한 DBC 조회 가능 여부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727448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" y="485546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4855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" y="48188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호출 방식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5093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호출 방식, 프롬프트 포맷, 응답 JSON 스키마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36792" y="4727448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501384" y="485546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1384" y="4855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85432" y="48188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신뢰도 기준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85432" y="5093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확정 vs 검수필요를 나누는 confidence 기준값 정의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5559552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" y="568756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05840" y="56509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상태 변경 권한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5840" y="5925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확정·완료 처리 권한 보유 역할 운영 기준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개발 방향 요약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3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개발 방향 요약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3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89920" y="365760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0" y="365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개발 방향 요약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개발의 핵심 4개 단위에 집중 — 운영 대응에 필요한 기능을 충분히 포함한다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606040" cy="3474720"/>
          </a:xfrm>
          <a:prstGeom prst="roundRect">
            <a:avLst>
              <a:gd name="adj" fmla="val 70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관리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수신 · 파싱 · 목록 생성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297680"/>
            <a:ext cx="2011680" cy="27432"/>
          </a:xfrm>
          <a:prstGeom prst="rect">
            <a:avLst/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+ Python + PostgreSQL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331720"/>
            <a:ext cx="2606040" cy="3474720"/>
          </a:xfrm>
          <a:prstGeom prst="roundRect">
            <a:avLst>
              <a:gd name="adj" fmla="val 70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93008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상세 / 로그 조회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93008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· ES · Context · 에러 로그 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93008" y="4297680"/>
            <a:ext cx="2011680" cy="27432"/>
          </a:xfrm>
          <a:prstGeom prst="rect">
            <a:avLst/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3008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· ES · Elasticsearch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331720"/>
            <a:ext cx="2606040" cy="3474720"/>
          </a:xfrm>
          <a:prstGeom prst="roundRect">
            <a:avLst>
              <a:gd name="adj" fmla="val 70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27648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파이프라인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7648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원인 · 책임 · 무응답 판단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7648" y="4297680"/>
            <a:ext cx="2011680" cy="27432"/>
          </a:xfrm>
          <a:prstGeom prst="rect">
            <a:avLst/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27648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+ Langflow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2331720"/>
            <a:ext cx="2606040" cy="3474720"/>
          </a:xfrm>
          <a:prstGeom prst="roundRect">
            <a:avLst>
              <a:gd name="adj" fmla="val 70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2288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62288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큐 / 상태 / 대시보드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62288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FFFF">
                    <a:alpha val="67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분리 · 확정 · 현황 집계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62288" y="4297680"/>
            <a:ext cx="2011680" cy="27432"/>
          </a:xfrm>
          <a:prstGeom prst="rect">
            <a:avLst/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62288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62288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큐 + 상태값 7단계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2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SDS  ·  NPS 저득점 상담 분석 및 운영 대응 도구  Draft v1.0  ·  2026-06-18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NPS 저득점 상담 분석 및 운영 대응 도구</dc:title>
  <dc:subject>PptxGenJS Presentation</dc:subject>
  <dc:creator>Samsung SDS</dc:creator>
  <cp:lastModifiedBy>Samsung SDS</cp:lastModifiedBy>
  <cp:revision>1</cp:revision>
  <dcterms:created xsi:type="dcterms:W3CDTF">2026-06-24T00:25:20Z</dcterms:created>
  <dcterms:modified xsi:type="dcterms:W3CDTF">2026-06-24T00:25:20Z</dcterms:modified>
</cp:coreProperties>
</file>