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1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7261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85416"/>
            <a:ext cx="11274552" cy="4078224"/>
          </a:xfrm>
          <a:prstGeom prst="roundRect">
            <a:avLst>
              <a:gd name="adj" fmla="val 4484"/>
            </a:avLst>
          </a:prstGeom>
          <a:solidFill>
            <a:srgbClr val="1456F0"/>
          </a:solidFill>
          <a:ln/>
          <a:effectLst>
            <a:outerShdw blurRad="190500" dist="50800" dir="2700000" algn="bl" rotWithShape="0">
              <a:srgbClr val="2C1E74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914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Insight NPS 운영 분석툴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9047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 CS센터 챗봇 NPS 저득점 검증 및 운영 대응 도구  ·  v0.1.4  ·  2026-06-24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핵심 개요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3063240"/>
            <a:ext cx="201168" cy="20116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303580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 저득점 상담 엑셀 + Langflow Flow JSON 기준 데이터 등록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685032"/>
            <a:ext cx="201168" cy="20116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365760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 TRACE · Prompt DB · Runtime Log 종합 수집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4306824"/>
            <a:ext cx="201168" cy="20116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4279392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Gauss LLM 자동 원인 분석 및 책임 영역 판단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4928616"/>
            <a:ext cx="201168" cy="20116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4901184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저신뢰/충돌 건 운영자 검수 큐 분리 → 상태값 확정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0" y="64465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Insight · 운영 분석툴 설계 문서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구성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9047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Insight NPS 운영 분석툴 설계 문서 — 전체 섹션 개요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85416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22951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07008" y="22768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07008" y="253288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 · 개발 목적 · 핵심 설계 원칙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" y="30906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07008" y="30723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책임 기준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07008" y="332841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책임 구분 원칙 · 파이프라인 문제 구분 · 상태값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776472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" y="3886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7008" y="38679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시스템 구성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07008" y="412394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 개요 · 주요 컴포넌트 · 기존 자산 활용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6928" y="46817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07008" y="4663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업무 흐름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07008" y="49194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 데이터 등록 · 분석 흐름 · 운영자 사용 흐름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5367528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6928" y="54772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07008" y="54589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상세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07008" y="57150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엑셀 업로드 · Flow JSON · 상담 목록/상세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2185416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36208" y="22951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76288" y="22768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분석 파이프라인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76288" y="253288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 개요 · LLM 결과 스키마 · 원인 분류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980944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36208" y="30906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76288" y="30723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아키텍처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76288" y="332841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흐름 · ERD · 핵심 테이블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3776472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36208" y="3886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876288" y="38679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및 메뉴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76288" y="412394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구조 · 업로드/Flow 관리 화면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4572000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36208" y="46817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876288" y="4663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상태값 및 검수 흐름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876288" y="49194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상태값 정의 · 상태 전이도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26480" y="5367528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236208" y="54772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10-15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76288" y="54589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 · API · 권한 · 예외 처리 · 기술 스택 · 확인사항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876288" y="57150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전반 가이드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개요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배경 및 목적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9047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 저득점 상담 원인을 정확히 진단하는 운영 분석 시스템 구축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85416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23682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779776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 CS센터 챗봇에서 NPS 6점 이하 상담 데이터가 엑셀로 SDS에 전달
</a:t>
            </a:r>
            <a:r>
              <a:rPr lang="en-US" sz="1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 자체 판단값(불만유형·발생원인·개선대책)이 포함되나, SDS 내부 재검증 필요
</a:t>
            </a:r>
            <a:r>
              <a:rPr lang="en-US" sz="1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RAG 챗봇은 Langflow 기반 — 최종 답변뿐 아니라 Flow/Component 경로까지 확인 필요
</a:t>
            </a:r>
            <a:r>
              <a:rPr lang="en-US" sz="1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강화질의 생성 · 제품분류 · 제품코드추출 · 조건 분기 등 각 단계 문제 식별이 핵심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185416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19088" y="23682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목적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9088" y="277977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NPS 저득점 상담 엑셀 업로드 → 분석 대상 생성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19088" y="31821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Langflow Flow JSON 업로드 → 구조·Component 관리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19088" y="358444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Prompt DB 쿼리로 프롬프트 전문 Flow 구조에 포함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19088" y="398678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Object Storage의 SDS TRACE 읽기 전용 조회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19088" y="43891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Langflow Runtime Log로 실제 실행 경로 확인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19088" y="479145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Gauss LLM이 원인·책임 영역·신뢰도 종합 판단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19088" y="519379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 강화질의/제품분류/코드추출 오류도 원인으로 분류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19088" y="55961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⑧ 저신뢰 건 운영자 검수 큐 분리 → 상태값 확정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65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개요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비즈니스 책임 기준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책임 구분 원칙 및 상태값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9047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 책임 vs 삼성전자 콘텐츠 책임 vs 검수 필요 — 3분류 판단 체계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85416"/>
            <a:ext cx="363626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331720"/>
            <a:ext cx="3636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콘텐츠개선필요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3636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책임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6344" y="2185416"/>
            <a:ext cx="363626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76344" y="2331720"/>
            <a:ext cx="3636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SDS조치필요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76344" y="2834640"/>
            <a:ext cx="3636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 책임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5488" y="2185416"/>
            <a:ext cx="363626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95488" y="2331720"/>
            <a:ext cx="3636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검수필요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95488" y="2834640"/>
            <a:ext cx="3636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필요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11274552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2743200"/>
                <a:gridCol w="2587752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책임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콘텐츠 자체 부재·오류·부족이 명확한 경우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콘텐츠 부실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삼성전자 콘텐츠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Context는 있으나 답변이 부정확하거나 불충분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답변 품질 문제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SDS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 결과는 있으나 Context로 선택되지 않음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Context 누락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SDS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Context에 없는 내용을 답변함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환각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SDS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강화질의 생성 Component가 의미를 왜곡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강화질의 생성 오류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SDS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제품분류 Component가 다른 제품군으로 분류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제품분류 오류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SDS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Runtime Log상 의도치 않은 Flow 경로 실행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Langflow 흐름 오류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SDS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Flow JSON과 Runtime Log 매칭 불명확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판단 보류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검수 필요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6126480"/>
            <a:ext cx="11274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RAG Insight 비즈니스 책임 기준 v0.1.4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전체 시스템 구성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구성 개요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9047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→ UI → API → Worker → 다중 데이터 소스 → Gauss LLM 분석 체인</a:t>
            </a:r>
            <a:endParaRPr lang="en-US" sz="1600" dirty="0"/>
          </a:p>
        </p:txBody>
      </p:sp>
      <p:pic>
        <p:nvPicPr>
          <p:cNvPr id="6" name="Image 0" descr="diagrams/3_1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85416"/>
            <a:ext cx="11274552" cy="40782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309360"/>
            <a:ext cx="11274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RAG Insight 시스템 아키텍처 v0.1.4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전체 시스템 구성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컴포넌트 역할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9047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 핵심 컴포넌트의 책임 영역과 주요 기능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85416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350008"/>
            <a:ext cx="164592" cy="329184"/>
          </a:xfrm>
          <a:prstGeom prst="roundRect">
            <a:avLst>
              <a:gd name="adj" fmla="val 27778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2585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rag-insight-ui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25328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화면  ·  업로드, 목록, 상세, 검수 큐, 대시보드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2185416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27648" y="2350008"/>
            <a:ext cx="164592" cy="329184"/>
          </a:xfrm>
          <a:prstGeom prst="roundRect">
            <a:avLst>
              <a:gd name="adj" fmla="val 27778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22585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rag-insight API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01968" y="25328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 API  ·  엑셀/JSON 업로드, 조회, 상태 변경, 분석 실행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145536"/>
            <a:ext cx="164592" cy="329184"/>
          </a:xfrm>
          <a:prstGeom prst="roundRect">
            <a:avLst>
              <a:gd name="adj" fmla="val 27778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05409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 Excel Parser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332841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엑셀 처리  ·  컬럼 매핑, 데이터 검증, 상담 목록 생성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2980944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27648" y="3145536"/>
            <a:ext cx="164592" cy="329184"/>
          </a:xfrm>
          <a:prstGeom prst="roundRect">
            <a:avLst>
              <a:gd name="adj" fmla="val 27778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305409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Langflow JSON Parser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01968" y="332841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Flow JSON 처리  ·  전체 Flow 파싱, 구조 저장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776472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" y="3941064"/>
            <a:ext cx="164592" cy="329184"/>
          </a:xfrm>
          <a:prstGeom prst="roundRect">
            <a:avLst>
              <a:gd name="adj" fmla="val 27778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384962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Analysis Worker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" y="41239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분석 처리  ·  TRACE 조회, 근거 구성, LLM 호출, 결과 저장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3776472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27648" y="3941064"/>
            <a:ext cx="164592" cy="329184"/>
          </a:xfrm>
          <a:prstGeom prst="roundRect">
            <a:avLst>
              <a:gd name="adj" fmla="val 27778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01968" y="384962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 Builder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01968" y="41239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입력 구성  ·  상담·TRACE·Flow·Prompt·Log 요약 구조화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57200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66928" y="4736592"/>
            <a:ext cx="164592" cy="329184"/>
          </a:xfrm>
          <a:prstGeom prst="roundRect">
            <a:avLst>
              <a:gd name="adj" fmla="val 27778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46451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Log Extractor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1248" y="49194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로그 추출  ·  Flow/Component 실행 흐름, 오류 로그 추출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457200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27648" y="4736592"/>
            <a:ext cx="164592" cy="329184"/>
          </a:xfrm>
          <a:prstGeom prst="roundRect">
            <a:avLst>
              <a:gd name="adj" fmla="val 27778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01968" y="46451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Prompt Definition Loader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01968" y="49194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조회  ·  Prompt DB 쿼리 → Flow 구조 정의에 포함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5367528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66928" y="5532120"/>
            <a:ext cx="164592" cy="329184"/>
          </a:xfrm>
          <a:prstGeom prst="roundRect">
            <a:avLst>
              <a:gd name="adj" fmla="val 27778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" y="54406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Gauss LLM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41248" y="57150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모델  ·  원인 분류, 책임 영역, 신뢰도, 판단 근거 생성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5367528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27648" y="5532120"/>
            <a:ext cx="164592" cy="329184"/>
          </a:xfrm>
          <a:prstGeom prst="roundRect">
            <a:avLst>
              <a:gd name="adj" fmla="val 27778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01968" y="54406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PostgreSQL rag_insight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601968" y="57150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저장소  ·  분석 결과, 검수 이력, 상태값 저장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주요 업무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 데이터 등록 흐름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9047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 엑셀 업로드와 Langflow Flow JSON 업로드 — 두 가지 기준 데이터 등록 프로세스</a:t>
            </a:r>
            <a:endParaRPr lang="en-US" sz="1600" dirty="0"/>
          </a:p>
        </p:txBody>
      </p:sp>
      <p:pic>
        <p:nvPicPr>
          <p:cNvPr id="6" name="Image 0" descr="diagrams/4_1_data_regi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85416"/>
            <a:ext cx="11274552" cy="40782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309360"/>
            <a:ext cx="11274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RAG Insight 업무 흐름 v0.1.4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주요 업무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분석 흐름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9047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선택부터 Evidence Builder → Gauss LLM → 검수 판단까지의 자동화 흐름</a:t>
            </a:r>
            <a:endParaRPr lang="en-US" sz="1600" dirty="0"/>
          </a:p>
        </p:txBody>
      </p:sp>
      <p:pic>
        <p:nvPicPr>
          <p:cNvPr id="6" name="Image 0" descr="diagrams/4_2_analysis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85416"/>
            <a:ext cx="11274552" cy="40782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309360"/>
            <a:ext cx="11274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RAG Insight 분석 흐름 v0.1.4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핵심 기능 상세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 엑셀 업로드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9047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삼성전자에서 전달받은 NPS 저득점 상담 목록을 시스템에 등록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85416"/>
            <a:ext cx="5394960" cy="4078224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파일 컬럼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2788920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BFDB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788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상담/NPS 발생 일자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090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 점수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0" y="3136392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BFDB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31363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0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저득점 NPS 점수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4381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챗봇상담 ID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348386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BFDB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348386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0" y="34381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 TRACE 조회 기준 키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7856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대화내역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0" y="383133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BFDB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383133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37856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전체 대화 내용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133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질문 리스트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0" y="4178808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BFDB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41788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4133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입력 질문 목록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전문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0" y="4526280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BFDB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0" y="45262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83280" y="4480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챗봇이 생성한 답변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4828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코멘트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0" y="4873752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0" y="48737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83280" y="4828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불만/평가 코멘트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51755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불만유형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0" y="522122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0" y="522122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83280" y="51755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 자체 판단값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" y="55229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발생원인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0" y="556869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0" y="55686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83280" y="55229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 자체 판단값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" y="5870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개선대책 세부내용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0" y="5916168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0" y="59161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383280" y="5870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 자체 판단값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17920" y="2185416"/>
            <a:ext cx="5394960" cy="4078224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40080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로직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400800" y="2788920"/>
            <a:ext cx="256032" cy="256032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2788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766560" y="27889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확장자·크기·시트 존재 여부 검증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400800" y="3291840"/>
            <a:ext cx="256032" cy="256032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0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766560" y="329184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헤더 row에서 필수 컬럼 존재 여부 확인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400800" y="3794760"/>
            <a:ext cx="256032" cy="256032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0" y="3794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766560" y="379476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row를 상담 분석 대상 1건으로 변환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400800" y="4297680"/>
            <a:ext cx="256032" cy="256032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00800" y="4297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766560" y="429768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챗봇상담 ID 없는 row → 업로드 오류 표시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400800" y="4800600"/>
            <a:ext cx="256032" cy="256032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0" y="4800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766560" y="480060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해시 + 상담 ID 조합으로 중복 방지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400800" y="5303520"/>
            <a:ext cx="256032" cy="256032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0" y="5303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766560" y="53035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 row는 [미분석] 상태로 저장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핵심 기능 상세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Langflow Flow JSON 업로드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9047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중인 Langflow 전체 Flow 구조를 분석 기준 데이터로 등록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85416"/>
            <a:ext cx="363626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459736"/>
            <a:ext cx="3636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is_active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3099816"/>
            <a:ext cx="3636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 Flow 버전 여부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76344" y="2185416"/>
            <a:ext cx="363626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76344" y="2459736"/>
            <a:ext cx="3636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updated_at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276344" y="3099816"/>
            <a:ext cx="3636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Flow 수정 시점 추적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5488" y="2185416"/>
            <a:ext cx="363626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95488" y="2459736"/>
            <a:ext cx="3636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file_hash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095488" y="3099816"/>
            <a:ext cx="3636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 업로드 방지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03320"/>
          <a:ext cx="1127455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616952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Flow JSON 파일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Langflow UI에서 export한 전체 Flow JSON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flow_id / flow_name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Flow 식별자 및 이름 (JSON에서 추출)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updated_at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Flow 수정 시점 (JSON에 존재하는 값 사용)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file_hash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동일 JSON 중복 업로드 방지용 해시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is_active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분석에 사용할 활성 Flow 버전 여부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Python 코드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Component 내부 코드 포함 시 요약 저장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6080760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운영 Flow가 수정될 때마다 최신 Flow JSON을 RAG Insight에 다시 업로드해야 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 자동 분석 파이프라인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파이프라인 개요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9047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원본 → TRACE → Flow → Prompt → Runtime Log → Evidence Builder → Gauss LLM → 저장</a:t>
            </a:r>
            <a:endParaRPr lang="en-US" sz="1600" dirty="0"/>
          </a:p>
        </p:txBody>
      </p:sp>
      <p:pic>
        <p:nvPicPr>
          <p:cNvPr id="6" name="Image 0" descr="diagrams/6_1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85416"/>
            <a:ext cx="11274552" cy="2560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937760"/>
            <a:ext cx="172669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5029200"/>
            <a:ext cx="1726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TRACE 조회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5349240"/>
            <a:ext cx="16352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챗봇상담 ID 기준 Object Storage에서 SDS TRACE 조회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366772" y="4937760"/>
            <a:ext cx="172669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66772" y="5029200"/>
            <a:ext cx="1726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Flow JSON 분석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412492" y="5349240"/>
            <a:ext cx="16352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 Flow JSON에서 Component·Edge·Python 코드 추출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276344" y="4937760"/>
            <a:ext cx="172669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76344" y="5029200"/>
            <a:ext cx="1726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Prompt 조회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322064" y="5349240"/>
            <a:ext cx="16352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Prompt DB에서 프롬프트 전문 쿼리 조회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85916" y="4937760"/>
            <a:ext cx="172669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85916" y="5029200"/>
            <a:ext cx="1726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Runtime Log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31636" y="5349240"/>
            <a:ext cx="16352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Flow/Component 실행 경로·입출력·에러 추출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095488" y="4937760"/>
            <a:ext cx="172669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95488" y="5029200"/>
            <a:ext cx="1726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Evidence Builder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41208" y="5349240"/>
            <a:ext cx="16352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입력용 요약 구조(case/trace/flow/prompt/runtime) 생성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0005060" y="4937760"/>
            <a:ext cx="172669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05060" y="5029200"/>
            <a:ext cx="1726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Gauss LLM 판단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050780" y="5349240"/>
            <a:ext cx="16352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원인·책임·신뢰도·의심 Component·권장 상태값 JSON 출력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 자동 분석 파이프라인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 분류 코드 체계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9047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13개 원인 코드 — SDS 책임 / 삼성전자 콘텐츠 / 검수 필요로 구분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85416"/>
          <a:ext cx="1127455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  <a:gridCol w="3657600"/>
                <a:gridCol w="2313432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기본 책임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HALLUCINATION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환각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Context에 없는 내용을 답변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SDS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CONTENT_INSUFFICIENT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콘텐츠 부실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원천 콘텐츠 부재·오류·부족이 명확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삼성전자 콘텐츠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SEARCH_FAILURE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 실패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후보 문서 수집 실패 의심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SDS / 검수 필요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CONTEXT_MISSING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Context 누락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 결과는 있으나 Context 구성 실패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SDS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ANSWER_QUALITY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답변 품질 문제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Context는 있으나 답변이 부정확·불충분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SDS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FLOW_ROUTING_ERROR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Langflow 흐름 오류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Runtime Log상 의도치 않은 경로 실행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SDS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QUERY_REWRITE_ERROR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강화질의 생성 오류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강화질의가 원 질문 의미를 왜곡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SDS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PRODUCT_CLASSIFICATION_ERROR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제품분류 오류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다른 제품군으로 분류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SDS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PRODUCT_CODE_EXTRACTION_ERROR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제품코드추출 오류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잘못된 제품코드 추출로 흐름이 틀어짐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SDS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NO_RESPONSE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무응답/무한대기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에러 로그 또는 generation 미완료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SDS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SYSTEM_ERROR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시스템 장애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Langflow·백엔드·API·LLM 호출 오류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SDS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CUSTOMER_MISUNDERSTANDING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 오해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시스템 답변 정상이나 고객 오해 가능성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검수 필요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UNKNOWN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판단불가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근거 부족 또는 원인 충돌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검수 필요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 데이터 아키텍처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흐름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9047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 Excel·Langflow JSON 업로드부터 분석 결과 저장까지 테이블 간 데이터 흐름</a:t>
            </a:r>
            <a:endParaRPr lang="en-US" sz="1600" dirty="0"/>
          </a:p>
        </p:txBody>
      </p:sp>
      <p:pic>
        <p:nvPicPr>
          <p:cNvPr id="6" name="Image 0" descr="diagrams/7_1_data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85416"/>
            <a:ext cx="11274552" cy="40782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309360"/>
            <a:ext cx="11274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RAG Insight 데이터 아키텍처 v0.1.4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 데이터 아키텍처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테이블 설명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9047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PostgreSQL rag_insight 스키마 — 6개 핵심 테이블 구조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85416"/>
            <a:ext cx="5545836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2322576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295144"/>
            <a:ext cx="50429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upload_batches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624328"/>
            <a:ext cx="50429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 엑셀과 Langflow Flow JSON 업로드 이력 저장. upload_type으로 파일 유형 구분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85916" y="2185416"/>
            <a:ext cx="5545836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23076" y="2322576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3388" y="2295144"/>
            <a:ext cx="50429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langflow_flow_versions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3388" y="2624328"/>
            <a:ext cx="50429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업로드된 Flow JSON 버전 정보. flow_updated_at · file_hash · is_active로 기준 버전 관리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65576"/>
            <a:ext cx="5545836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602736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575304"/>
            <a:ext cx="50429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langflow_components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" y="3904488"/>
            <a:ext cx="50429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Flow JSON에서 추출한 Component 정보. Python 코드 포함 시 python_code에 저장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5916" y="3465576"/>
            <a:ext cx="5545836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23076" y="3602736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3388" y="3575304"/>
            <a:ext cx="50429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langflow_edges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33388" y="3904488"/>
            <a:ext cx="50429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Component 간 연결 관계 저장. Runtime Log 경로와 Flow JSON 구조 일치 여부 검증에 사용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745736"/>
            <a:ext cx="5545836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4882896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4855464"/>
            <a:ext cx="50429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trace_links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4672" y="5184648"/>
            <a:ext cx="50429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건과 SDS TRACE · Runtime Log · Context · Error Log를 연결. Object Storage 기준 조회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85916" y="4745736"/>
            <a:ext cx="5545836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23076" y="4882896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3388" y="4855464"/>
            <a:ext cx="50429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analysis_results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33388" y="5184648"/>
            <a:ext cx="50429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Gauss LLM 분석 결과 저장. Langflow 흐름 의심 여부와 의심 Component 정보 포함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 화면 및 메뉴 구성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구조 및 화면 구성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9047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9개 메뉴 — 대시보드 · 기준 데이터 업로드 · Flow 관리 · 상담 분석 · 검수 큐 · 설정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85416"/>
            <a:ext cx="357530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295144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587752"/>
            <a:ext cx="3300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현황 요약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825496"/>
            <a:ext cx="3300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 건 현황, 원인 분포, SDS 책임 비율, Langflow 흐름 의심 건수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06824" y="2185416"/>
            <a:ext cx="357530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43984" y="2295144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 데이터 업로드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43984" y="2587752"/>
            <a:ext cx="3300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 엑셀 및 Langflow JSON 등록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43984" y="2825496"/>
            <a:ext cx="3300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 엑셀 업로드, Flow JSON 업로드, 파싱 결과 확인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56448" y="2185416"/>
            <a:ext cx="357530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93608" y="2295144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Flow JSON 관리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93608" y="2587752"/>
            <a:ext cx="3300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Langflow Flow 버전 관리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93608" y="2825496"/>
            <a:ext cx="3300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Flow JSON 이력, updated_at, 활성 버전 지정, Component 확인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538728"/>
            <a:ext cx="357530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3648456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 건 목록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941064"/>
            <a:ext cx="3300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단위 관리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178808"/>
            <a:ext cx="3300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 이력, 총 건수, 분석 완료 수, 검수 필요 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06824" y="3538728"/>
            <a:ext cx="357530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443984" y="3648456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분석 목록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43984" y="3941064"/>
            <a:ext cx="3300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건별 분석 관리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43984" y="4178808"/>
            <a:ext cx="3300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ID, NPS 점수, 원인, 책임, 신뢰도, 상태값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56448" y="3538728"/>
            <a:ext cx="357530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93608" y="3648456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상세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93608" y="3941064"/>
            <a:ext cx="3300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 상담 확인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93608" y="4178808"/>
            <a:ext cx="3300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 데이터, TRACE, Flow 구조, Runtime Log, LLM 분석 결과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892040"/>
            <a:ext cx="357530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94360" y="5001768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TRACE / Flow 상세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4360" y="5294376"/>
            <a:ext cx="3300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 근거 확인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" y="5532120"/>
            <a:ext cx="3300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 TRACE, Runtime Log, Component 실행 순서, Flow 경로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06824" y="4892040"/>
            <a:ext cx="357530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443984" y="5001768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저신뢰 검수 큐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443984" y="5294376"/>
            <a:ext cx="3300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대상 처리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43984" y="5532120"/>
            <a:ext cx="3300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판단불가·신뢰도 낮음·흐름 오류 의심 건 확정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56448" y="4892040"/>
            <a:ext cx="357530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293608" y="5001768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93608" y="5294376"/>
            <a:ext cx="3300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기준 관리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93608" y="5532120"/>
            <a:ext cx="3300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 코드, 상태값, confidence 기준, 프롬프트 기준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9. 상태값 및 검수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상태값 정의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9047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9개 상태값으로 자동·수동 분석 흐름을 관리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85416"/>
            <a:ext cx="3636264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2322576"/>
            <a:ext cx="3361944" cy="54864"/>
          </a:xfrm>
          <a:prstGeom prst="roundRect">
            <a:avLst>
              <a:gd name="adj" fmla="val 33333"/>
            </a:avLst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459736"/>
            <a:ext cx="3361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미분석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779776"/>
            <a:ext cx="3361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 후 아직 분석 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70504" y="2441448"/>
            <a:ext cx="658368" cy="201168"/>
          </a:xfrm>
          <a:prstGeom prst="roundRect">
            <a:avLst>
              <a:gd name="adj" fmla="val 36364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0504" y="24414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76344" y="2185416"/>
            <a:ext cx="3636264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13504" y="2322576"/>
            <a:ext cx="3361944" cy="54864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13504" y="2459736"/>
            <a:ext cx="3361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분석중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13504" y="2779776"/>
            <a:ext cx="3361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분석 파이프라인 실행 중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89648" y="2441448"/>
            <a:ext cx="658368" cy="201168"/>
          </a:xfrm>
          <a:prstGeom prst="roundRect">
            <a:avLst>
              <a:gd name="adj" fmla="val 36364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9648" y="24414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95488" y="2185416"/>
            <a:ext cx="3636264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32648" y="2322576"/>
            <a:ext cx="3361944" cy="54864"/>
          </a:xfrm>
          <a:prstGeom prst="roundRect">
            <a:avLst>
              <a:gd name="adj" fmla="val 33333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32648" y="2459736"/>
            <a:ext cx="3361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분석완료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32648" y="2779776"/>
            <a:ext cx="3361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자동 분석 완료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908792" y="2441448"/>
            <a:ext cx="658368" cy="201168"/>
          </a:xfrm>
          <a:prstGeom prst="roundRect">
            <a:avLst>
              <a:gd name="adj" fmla="val 36364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08792" y="24414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465576"/>
            <a:ext cx="3636264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3602736"/>
            <a:ext cx="3361944" cy="54864"/>
          </a:xfrm>
          <a:prstGeom prst="roundRect">
            <a:avLst>
              <a:gd name="adj" fmla="val 33333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739896"/>
            <a:ext cx="3361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검수필요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4059936"/>
            <a:ext cx="3361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신뢰도 낮음 또는 판단 충돌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70504" y="3721608"/>
            <a:ext cx="658368" cy="201168"/>
          </a:xfrm>
          <a:prstGeom prst="roundRect">
            <a:avLst>
              <a:gd name="adj" fmla="val 36364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0504" y="37216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76344" y="3465576"/>
            <a:ext cx="3636264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13504" y="3602736"/>
            <a:ext cx="3361944" cy="54864"/>
          </a:xfrm>
          <a:prstGeom prst="roundRect">
            <a:avLst>
              <a:gd name="adj" fmla="val 33333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13504" y="3739896"/>
            <a:ext cx="3361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SDS조치필요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413504" y="4059936"/>
            <a:ext cx="3361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문제가 아닌 SDS 책임 이슈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089648" y="3721608"/>
            <a:ext cx="658368" cy="201168"/>
          </a:xfrm>
          <a:prstGeom prst="roundRect">
            <a:avLst>
              <a:gd name="adj" fmla="val 36364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89648" y="37216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자동/수동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095488" y="3465576"/>
            <a:ext cx="3636264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32648" y="3602736"/>
            <a:ext cx="3361944" cy="54864"/>
          </a:xfrm>
          <a:prstGeom prst="roundRect">
            <a:avLst>
              <a:gd name="adj" fmla="val 3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32648" y="3739896"/>
            <a:ext cx="3361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콘텐츠개선필요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232648" y="4059936"/>
            <a:ext cx="3361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문제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908792" y="3721608"/>
            <a:ext cx="658368" cy="201168"/>
          </a:xfrm>
          <a:prstGeom prst="roundRect">
            <a:avLst>
              <a:gd name="adj" fmla="val 36364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08792" y="37216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자동/수동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4745736"/>
            <a:ext cx="3636264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94360" y="4882896"/>
            <a:ext cx="3361944" cy="54864"/>
          </a:xfrm>
          <a:prstGeom prst="roundRect">
            <a:avLst>
              <a:gd name="adj" fmla="val 33333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5020056"/>
            <a:ext cx="3361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Langflow흐름의심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94360" y="5340096"/>
            <a:ext cx="3361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Flow/Component 실행 경로 오류 의심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70504" y="5001768"/>
            <a:ext cx="658368" cy="201168"/>
          </a:xfrm>
          <a:prstGeom prst="roundRect">
            <a:avLst>
              <a:gd name="adj" fmla="val 36364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70504" y="500176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자동/수동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276344" y="4745736"/>
            <a:ext cx="3636264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413504" y="4882896"/>
            <a:ext cx="3361944" cy="54864"/>
          </a:xfrm>
          <a:prstGeom prst="roundRect">
            <a:avLst>
              <a:gd name="adj" fmla="val 33333"/>
            </a:avLst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13504" y="5020056"/>
            <a:ext cx="3361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413504" y="5340096"/>
            <a:ext cx="3361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최종 확인 완료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089648" y="5001768"/>
            <a:ext cx="658368" cy="201168"/>
          </a:xfrm>
          <a:prstGeom prst="roundRect">
            <a:avLst>
              <a:gd name="adj" fmla="val 36364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89648" y="500176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095488" y="4745736"/>
            <a:ext cx="3636264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232648" y="4882896"/>
            <a:ext cx="3361944" cy="54864"/>
          </a:xfrm>
          <a:prstGeom prst="roundRect">
            <a:avLst>
              <a:gd name="adj" fmla="val 3333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32648" y="5020056"/>
            <a:ext cx="3361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분석실패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232648" y="5340096"/>
            <a:ext cx="3361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TRACE 조회 또는 LLM 호출 실패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0908792" y="5001768"/>
            <a:ext cx="658368" cy="201168"/>
          </a:xfrm>
          <a:prstGeom prst="roundRect">
            <a:avLst>
              <a:gd name="adj" fmla="val 36364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908792" y="500176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9. 상태값 및 검수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전이도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9047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미분석 → 분석중 → 완료까지의 자동·수동 상태 전이 흐름</a:t>
            </a:r>
            <a:endParaRPr lang="en-US" sz="1600" dirty="0"/>
          </a:p>
        </p:txBody>
      </p:sp>
      <p:pic>
        <p:nvPicPr>
          <p:cNvPr id="6" name="Image 0" descr="diagrams/9_2_state_tran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85416"/>
            <a:ext cx="11274552" cy="40782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309360"/>
            <a:ext cx="11274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RAG Insight 상태값 관리 v0.1.4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10. 대시보드 구성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 주요 지표 및 차트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9047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분석 현황을 KPI · 원인 분포 · 책임 비율 · 상태 분포로 한눈에 파악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85416"/>
            <a:ext cx="261289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459736"/>
            <a:ext cx="2612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–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3099816"/>
            <a:ext cx="2612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상담 건수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44418" y="2185416"/>
            <a:ext cx="261289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44418" y="2459736"/>
            <a:ext cx="2612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–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44418" y="3099816"/>
            <a:ext cx="2612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완료율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1636" y="2185416"/>
            <a:ext cx="261289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31636" y="2459736"/>
            <a:ext cx="2612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–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31636" y="3099816"/>
            <a:ext cx="2612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필요 건수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18854" y="2185416"/>
            <a:ext cx="261289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18854" y="2459736"/>
            <a:ext cx="2612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–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9118854" y="3099816"/>
            <a:ext cx="2612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 책임 건수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2108606" cy="237744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840480"/>
            <a:ext cx="1834286" cy="1097280"/>
          </a:xfrm>
          <a:prstGeom prst="roundRect">
            <a:avLst>
              <a:gd name="adj" fmla="val 6667"/>
            </a:avLst>
          </a:prstGeom>
          <a:solidFill>
            <a:srgbClr val="BFDB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160520"/>
            <a:ext cx="1834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" y="5029200"/>
            <a:ext cx="1925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 분포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321808"/>
            <a:ext cx="19257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환각·콘텐츠 부실·검색 실패·Context 누락·답변 품질·Flow 오류 등 분포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8686" y="3749040"/>
            <a:ext cx="2108606" cy="237744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885846" y="3840480"/>
            <a:ext cx="1834286" cy="1097280"/>
          </a:xfrm>
          <a:prstGeom prst="roundRect">
            <a:avLst>
              <a:gd name="adj" fmla="val 6667"/>
            </a:avLst>
          </a:prstGeom>
          <a:solidFill>
            <a:srgbClr val="BFDB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5846" y="4160520"/>
            <a:ext cx="1834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📊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840126" y="5029200"/>
            <a:ext cx="1925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책임 영역 비율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40126" y="5321808"/>
            <a:ext cx="19257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 / 삼성전자 콘텐츠 / 검수 필요 3분류 비율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40173" y="3749040"/>
            <a:ext cx="2108606" cy="237744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77333" y="3840480"/>
            <a:ext cx="1834286" cy="1097280"/>
          </a:xfrm>
          <a:prstGeom prst="roundRect">
            <a:avLst>
              <a:gd name="adj" fmla="val 6667"/>
            </a:avLst>
          </a:prstGeom>
          <a:solidFill>
            <a:srgbClr val="BFDB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77333" y="4160520"/>
            <a:ext cx="1834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📊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131613" y="5029200"/>
            <a:ext cx="1925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분포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31613" y="5321808"/>
            <a:ext cx="19257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미분석·분석완료·검수필요·SDS조치필요·콘텐츠개선필요·완료 현황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31659" y="3749040"/>
            <a:ext cx="2108606" cy="237744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468819" y="3840480"/>
            <a:ext cx="1834286" cy="1097280"/>
          </a:xfrm>
          <a:prstGeom prst="roundRect">
            <a:avLst>
              <a:gd name="adj" fmla="val 6667"/>
            </a:avLst>
          </a:prstGeom>
          <a:solidFill>
            <a:srgbClr val="BFDB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68819" y="4160520"/>
            <a:ext cx="1834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📊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423099" y="5029200"/>
            <a:ext cx="1925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의심 Component Top 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23099" y="5321808"/>
            <a:ext cx="19257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Log 기준 자주 의심되는 Component 순위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623146" y="3749040"/>
            <a:ext cx="2108606" cy="237744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760306" y="3840480"/>
            <a:ext cx="1834286" cy="1097280"/>
          </a:xfrm>
          <a:prstGeom prst="roundRect">
            <a:avLst>
              <a:gd name="adj" fmla="val 6667"/>
            </a:avLst>
          </a:prstGeom>
          <a:solidFill>
            <a:srgbClr val="BFDB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60306" y="4160520"/>
            <a:ext cx="1834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📊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9714586" y="5029200"/>
            <a:ext cx="1925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Flow JSON 업로드 이력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714586" y="5321808"/>
            <a:ext cx="19257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Flow updated_at 기준 버전 변화 타임라인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14. 기술 스택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스택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9047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Frontend · Backend · DB · LLM · 인프라 전체 기술 구성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85416"/>
            <a:ext cx="5545836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313432"/>
            <a:ext cx="109728" cy="365760"/>
          </a:xfrm>
          <a:prstGeom prst="roundRect">
            <a:avLst>
              <a:gd name="adj" fmla="val 33333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585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Frontend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459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2350008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UI 개발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85916" y="2185416"/>
            <a:ext cx="5545836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95644" y="2313432"/>
            <a:ext cx="109728" cy="365760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5956" y="22585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Backend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05956" y="2459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203436" y="2350008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· 엑셀 파싱 · Flow JSON 파싱 · 분석 워커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35224"/>
            <a:ext cx="5545836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063240"/>
            <a:ext cx="109728" cy="365760"/>
          </a:xfrm>
          <a:prstGeom prst="roundRect">
            <a:avLst>
              <a:gd name="adj" fmla="val 33333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00837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209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3099816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 · 상담 · Flow JSON 버전 · 분석 결과 저장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85916" y="2935224"/>
            <a:ext cx="5545836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95644" y="3063240"/>
            <a:ext cx="109728" cy="365760"/>
          </a:xfrm>
          <a:prstGeom prst="roundRect">
            <a:avLst>
              <a:gd name="adj" fmla="val 33333"/>
            </a:avLst>
          </a:prstGeom>
          <a:solidFill>
            <a:srgbClr val="45515E"/>
          </a:solidFill>
          <a:ln w="12700">
            <a:solidFill>
              <a:srgbClr val="4551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5956" y="300837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Excel Parsing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05956" y="3209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openpyxl / pandas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03436" y="3099816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엑셀 파일 파싱 및 검증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685032"/>
            <a:ext cx="5545836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3813048"/>
            <a:ext cx="109728" cy="365760"/>
          </a:xfrm>
          <a:prstGeom prst="roundRect">
            <a:avLst>
              <a:gd name="adj" fmla="val 33333"/>
            </a:avLst>
          </a:prstGeom>
          <a:solidFill>
            <a:srgbClr val="45515E"/>
          </a:solidFill>
          <a:ln w="12700">
            <a:solidFill>
              <a:srgbClr val="4551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758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JSON Parsing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3959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 json / pydantic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74720" y="3849624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Langflow Flow JSON 검증 및 구조 추출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85916" y="3685032"/>
            <a:ext cx="5545836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95644" y="3813048"/>
            <a:ext cx="109728" cy="365760"/>
          </a:xfrm>
          <a:prstGeom prst="roundRect">
            <a:avLst>
              <a:gd name="adj" fmla="val 33333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05956" y="3758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05956" y="3959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Gauss LLM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203436" y="3849624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 분석 및 책임 판단 모델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434840"/>
            <a:ext cx="5545836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562856"/>
            <a:ext cx="109728" cy="365760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5079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Log Source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7240" y="4709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 TRACE / Object Storage / Runtime Log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74720" y="4599432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처리 로그와 Langflow 실행 로그 조회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85916" y="4434840"/>
            <a:ext cx="5545836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95644" y="4562856"/>
            <a:ext cx="109728" cy="365760"/>
          </a:xfrm>
          <a:prstGeom prst="roundRect">
            <a:avLst>
              <a:gd name="adj" fmla="val 3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05956" y="45079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505956" y="4709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Langflow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203436" y="4599432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Flow 구조 · Component 실행 흐름 분석 대상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5184648"/>
            <a:ext cx="5545836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66928" y="5312664"/>
            <a:ext cx="109728" cy="365760"/>
          </a:xfrm>
          <a:prstGeom prst="roundRect">
            <a:avLst>
              <a:gd name="adj" fmla="val 33333"/>
            </a:avLst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" y="5257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Infra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77240" y="5458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Kubernetes (K8S)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474720" y="5349240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/ Worker / UI 배포 환경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185916" y="5184648"/>
            <a:ext cx="5545836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95644" y="5312664"/>
            <a:ext cx="109728" cy="365760"/>
          </a:xfrm>
          <a:prstGeom prst="roundRect">
            <a:avLst>
              <a:gd name="adj" fmla="val 33333"/>
            </a:avLst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05956" y="5257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Auth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505956" y="5458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인증 연계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203436" y="5349240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접근 제어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15. 확인 필요 사항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착수 전 확인 필요 항목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9047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엑셀 컬럼 · TRACE 연계 · Flow JSON · Prompt · Runtime Log · LLM 연계 관련 미정 사항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85416"/>
          <a:ext cx="1127455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  <a:gridCol w="3044952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확인 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현재 기준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 시점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실제 엑셀 컬럼명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샘플 수령 후 최종 확정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개발 착수 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상담 ID 매칭 키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trace_id / session_id / conversation_id 중 실제 매칭 키 확인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TRACE 연계 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Flow JSON 조회 방식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현재 Langflow UI에서 파일 export. 자동 조회 방식 미정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Langflow 연계 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Runtime Log 식별자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flow_id · component_id · session_id 포함 여부 확인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Runtime Log 연계 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session_id 매칭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SDS TRACE와 Langflow Runtime Log의 session_id 일치 여부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로그 매칭 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Component ID 매칭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Flow JSON component_id와 Runtime Log component_id 매칭 여부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Flow 분석 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Gauss LLM API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호출 방식 · 인증 · rate limit · 응답 포맷 확인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연계 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confidence 기준값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저신뢰 검수 큐 분기 기준값 확정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운영 테스트 시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로그 요약 기준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로그가 큰 경우 요약 기준 확인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입력 설계 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권한 체계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Viewer · Operator · Reviewer · Admin 역할 매핑 확정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운영 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108192"/>
            <a:ext cx="11274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위 항목들은 개발 착수 전 확정이 필요한 사항입니다. 일정 협의 시 우선 확인 권장.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81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0"/>
            <a:ext cx="11274552" cy="3200400"/>
          </a:xfrm>
          <a:prstGeom prst="roundRect">
            <a:avLst>
              <a:gd name="adj" fmla="val 5714"/>
            </a:avLst>
          </a:prstGeom>
          <a:solidFill>
            <a:srgbClr val="1456F0"/>
          </a:solidFill>
          <a:ln/>
          <a:effectLst>
            <a:outerShdw blurRad="190500" dist="50800" dir="2700000" algn="bl" rotWithShape="0">
              <a:srgbClr val="2C1E74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23774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Insight NPS 운영 분석툴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800" dirty="0">
                <a:solidFill>
                  <a:srgbClr val="BFD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 CS센터 챗봇 NPS 저득점 검증 및 운영 대응 도구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3C5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Revision v0.1.4  ·  2026-06-24  ·  Samsung SDS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2166</Words>
  <Application>Microsoft Office PowerPoint</Application>
  <PresentationFormat>와이드스크린</PresentationFormat>
  <Paragraphs>499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Pretendard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JKH</cp:lastModifiedBy>
  <cp:revision>1</cp:revision>
  <dcterms:created xsi:type="dcterms:W3CDTF">2026-06-24T02:11:28Z</dcterms:created>
  <dcterms:modified xsi:type="dcterms:W3CDTF">2026-06-24T04:03:27Z</dcterms:modified>
</cp:coreProperties>
</file>