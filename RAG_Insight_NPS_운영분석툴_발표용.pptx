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11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4005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E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11274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Insight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NPS 운영 분석툴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3C5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삼성전자 CS센터 챗봇 · NPS 저득점 원인 자동 분석 및 운영 대응 시스템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4023360"/>
            <a:ext cx="3200400" cy="438912"/>
          </a:xfrm>
          <a:prstGeom prst="roundRect">
            <a:avLst>
              <a:gd name="adj" fmla="val 45833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02336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Gauss LLM 자동 원인 분석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931920" y="4023360"/>
            <a:ext cx="3200400" cy="438912"/>
          </a:xfrm>
          <a:prstGeom prst="roundRect">
            <a:avLst>
              <a:gd name="adj" fmla="val 45833"/>
            </a:avLst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0" y="402336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SDS vs 콘텐츠 책임 자동 판단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06640" y="4023360"/>
            <a:ext cx="3200400" cy="438912"/>
          </a:xfrm>
          <a:prstGeom prst="roundRect">
            <a:avLst>
              <a:gd name="adj" fmla="val 45833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06640" y="402336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운영자 검수 큐 + 상태 관리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Revision v0.1.4  ·  2026-06-24  ·  Samsung SDS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배경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이 시스템이 필요한가?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삼성전자 CS챗봇 NPS 저득점 — 기존 방식의 한계와 해결 방향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185416"/>
            <a:ext cx="5303520" cy="4078224"/>
          </a:xfrm>
          <a:prstGeom prst="roundRect">
            <a:avLst>
              <a:gd name="adj" fmla="val 2242"/>
            </a:avLst>
          </a:prstGeom>
          <a:solidFill>
            <a:srgbClr val="FFF7F7"/>
          </a:solidFill>
          <a:ln w="6350">
            <a:solidFill>
              <a:srgbClr val="FECACA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236829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📌  현재 문제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" y="2953512"/>
            <a:ext cx="237744" cy="237744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9535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24128" y="2898648"/>
            <a:ext cx="4553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NPS 6점 이하 상담이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엑셀로만 전달됨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24128" y="3300984"/>
            <a:ext cx="4553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삼성전자의 판단값(불만유형·발생원인)이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포함되나, SDS 책임 여부는 별도 검증 필요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" y="3995928"/>
            <a:ext cx="237744" cy="237744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9959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24128" y="3941064"/>
            <a:ext cx="4553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답변만 봐서는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원인을 알 수 없음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24128" y="4343400"/>
            <a:ext cx="4553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Langflow 기반 RAG 챗봇 — 강화질의·제품분류·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제품코드추출·Context 구성 중 어느 단계인지 불명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" y="5038344"/>
            <a:ext cx="237744" cy="237744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50383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24128" y="4983480"/>
            <a:ext cx="4553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수동 검토는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 과다 소요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24128" y="5385816"/>
            <a:ext cx="4553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상담 건수 증가 시 운영자가 건건이 로그를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확인하는 방식은 확장 불가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44768" y="2185416"/>
            <a:ext cx="5303520" cy="4078224"/>
          </a:xfrm>
          <a:prstGeom prst="roundRect">
            <a:avLst>
              <a:gd name="adj" fmla="val 2242"/>
            </a:avLst>
          </a:prstGeom>
          <a:solidFill>
            <a:srgbClr val="F0F7FF"/>
          </a:solidFill>
          <a:ln w="6350">
            <a:solidFill>
              <a:srgbClr val="BFDBFE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45936" y="236829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  RAG Insight 해결 방향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345936" y="2953512"/>
            <a:ext cx="237744" cy="237744"/>
          </a:xfrm>
          <a:prstGeom prst="ellipse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45936" y="29535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11696" y="2898648"/>
            <a:ext cx="4553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NPS 엑셀 + Flow JSON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 데이터로 등록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11696" y="3300984"/>
            <a:ext cx="4553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업로드 즉시 분석 대상 생성. Flow 구조·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Component·Python 코드 자동 파싱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45936" y="3995928"/>
            <a:ext cx="237744" cy="237744"/>
          </a:xfrm>
          <a:prstGeom prst="ellipse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45936" y="39959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11696" y="3941064"/>
            <a:ext cx="4553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SDS TRACE + Runtime Log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경로 완전 추적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711696" y="4343400"/>
            <a:ext cx="4553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Storage TRACE + Langflow Runtime Log로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Component 실행 순서·오류 확인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45936" y="5038344"/>
            <a:ext cx="237744" cy="237744"/>
          </a:xfrm>
          <a:prstGeom prst="ellipse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45936" y="50383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11696" y="4983480"/>
            <a:ext cx="4553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Gauss LLM 자동 판단 →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운영자 검수 확정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711696" y="5385816"/>
            <a:ext cx="4553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원인·책임·신뢰도 자동 산출. 저신뢰 건은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검수 큐로 분리 → 운영자 최종 확정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구성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시스템 구성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운영자 → UI → API → Worker → 4개 데이터 소스 → Gauss LLM → 결과 저장</a:t>
            </a:r>
            <a:endParaRPr lang="en-US" sz="1500" dirty="0"/>
          </a:p>
        </p:txBody>
      </p:sp>
      <p:pic>
        <p:nvPicPr>
          <p:cNvPr id="6" name="Image 0" descr="diagrams/preso_3_1_syst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85416"/>
            <a:ext cx="11274552" cy="40782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309360"/>
            <a:ext cx="11274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RAG Insight 시스템 아키텍처 v0.1.4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비즈니스 책임 기준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3분류 책임 판단 체계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Gauss LLM이 상담 데이터·TRACE·Flow 구조를 종합해 자동으로 책임 영역을 판단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185416"/>
            <a:ext cx="2695194" cy="4078224"/>
          </a:xfrm>
          <a:prstGeom prst="roundRect">
            <a:avLst>
              <a:gd name="adj" fmla="val 3393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85416"/>
            <a:ext cx="2695194" cy="1051560"/>
          </a:xfrm>
          <a:prstGeom prst="roundRect">
            <a:avLst>
              <a:gd name="adj" fmla="val 8696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76856"/>
            <a:ext cx="26951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</a:t>
            </a:r>
            <a:endParaRPr lang="en-US" sz="1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개선필요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48640" y="3300984"/>
            <a:ext cx="25123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삼성전자 콘텐츠 책임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666744"/>
            <a:ext cx="242087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원천 FAQ·매뉴얼·정책 문서 부재·오류·부족이 TRACE 근거상 명확한 경우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16986" y="2185416"/>
            <a:ext cx="2695194" cy="4078224"/>
          </a:xfrm>
          <a:prstGeom prst="roundRect">
            <a:avLst>
              <a:gd name="adj" fmla="val 3393"/>
            </a:avLst>
          </a:prstGeom>
          <a:solidFill>
            <a:srgbClr val="EFF6FF"/>
          </a:solidFill>
          <a:ln w="6350">
            <a:solidFill>
              <a:srgbClr val="1456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6986" y="2185416"/>
            <a:ext cx="2695194" cy="1051560"/>
          </a:xfrm>
          <a:prstGeom prst="roundRect">
            <a:avLst>
              <a:gd name="adj" fmla="val 8696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6986" y="2276856"/>
            <a:ext cx="26951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SDS</a:t>
            </a:r>
            <a:endParaRPr lang="en-US" sz="1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조치필요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408426" y="3300984"/>
            <a:ext cx="25123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SDS 파이프라인 책임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54146" y="3666744"/>
            <a:ext cx="242087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실패·Context 누락·환각·제품분류 오류·Flow 경로 오류·시스템 장애 등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6772" y="2185416"/>
            <a:ext cx="2695194" cy="4078224"/>
          </a:xfrm>
          <a:prstGeom prst="roundRect">
            <a:avLst>
              <a:gd name="adj" fmla="val 3393"/>
            </a:avLst>
          </a:prstGeom>
          <a:solidFill>
            <a:srgbClr val="EDE9F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6772" y="2185416"/>
            <a:ext cx="2695194" cy="1051560"/>
          </a:xfrm>
          <a:prstGeom prst="roundRect">
            <a:avLst>
              <a:gd name="adj" fmla="val 869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6772" y="2276856"/>
            <a:ext cx="26951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Langflow</a:t>
            </a:r>
            <a:endParaRPr lang="en-US" sz="1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흐름의심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268212" y="3300984"/>
            <a:ext cx="25123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SDS — 흐름 오류 특정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13932" y="3666744"/>
            <a:ext cx="242087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강화질의·제품분류·제품코드추출·조건 분기 중 의도치 않은 경로 실행 의심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36558" y="2185416"/>
            <a:ext cx="2695194" cy="4078224"/>
          </a:xfrm>
          <a:prstGeom prst="roundRect">
            <a:avLst>
              <a:gd name="adj" fmla="val 3393"/>
            </a:avLst>
          </a:prstGeom>
          <a:solidFill>
            <a:srgbClr val="FEF3C7"/>
          </a:solidFill>
          <a:ln w="6350">
            <a:solidFill>
              <a:srgbClr val="EA580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36558" y="2185416"/>
            <a:ext cx="2695194" cy="1051560"/>
          </a:xfrm>
          <a:prstGeom prst="roundRect">
            <a:avLst>
              <a:gd name="adj" fmla="val 8696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36558" y="2276856"/>
            <a:ext cx="26951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검수</a:t>
            </a:r>
            <a:endParaRPr lang="en-US" sz="1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필요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127998" y="3300984"/>
            <a:ext cx="25123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저신뢰 / 판단 충돌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73718" y="3666744"/>
            <a:ext cx="242087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신뢰도 기준 미달, 삼성전자 판단과 SDS 판단 충돌, TRACE 없음 등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309360"/>
            <a:ext cx="11274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Langflow흐름의심은 중간 상태값으로, 운영자 검토 후 SDS조치필요·콘텐츠개선필요·검수필요 중 하나로 전환됩니다.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분석 파이프라인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분석 파이프라인 8단계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상담 건 선택부터 Gauss LLM 판단·저장까지 완전 자동화</a:t>
            </a:r>
            <a:endParaRPr lang="en-US" sz="1500" dirty="0"/>
          </a:p>
        </p:txBody>
      </p:sp>
      <p:pic>
        <p:nvPicPr>
          <p:cNvPr id="6" name="Image 0" descr="diagrams/preso_6_1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31720"/>
            <a:ext cx="11274552" cy="2286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4846320"/>
            <a:ext cx="1764792" cy="1389888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48640" y="4974336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상담 데이터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5285232"/>
            <a:ext cx="1581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NPS 엑셀 업로드로 생성된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상담 원본 조회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359152" y="4846320"/>
            <a:ext cx="1764792" cy="1389888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450592" y="4974336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SDS TRACE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450592" y="5285232"/>
            <a:ext cx="1581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Storage에서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챗봇상담 ID 기준 조회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261104" y="4846320"/>
            <a:ext cx="1764792" cy="1389888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352544" y="4974336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Flow JSON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352544" y="5285232"/>
            <a:ext cx="1581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활성 버전 Flow 구조·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Component·Python 코드 추출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163056" y="4846320"/>
            <a:ext cx="1764792" cy="1389888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254496" y="4974336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Prompt DB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254496" y="5285232"/>
            <a:ext cx="1581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Prompt 전문 쿼리 조회 →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Flow 구조 정의에 포함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065008" y="4846320"/>
            <a:ext cx="1764792" cy="1389888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156448" y="4974336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 Runtime Log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56448" y="5285232"/>
            <a:ext cx="1581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실행된 Component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순서·입출력·에러 추출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9966960" y="4846320"/>
            <a:ext cx="1764792" cy="1389888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058400" y="4974336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⑥ Evidence Builder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058400" y="5285232"/>
            <a:ext cx="1581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5개 데이터를 LLM 입력용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요약 구조로 정리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Gauss LLM 분석 결과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Gauss LLM이 판단하는 것들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원인 코드 · 책임 영역 · 신뢰도 · 의심 Component · 권장 상태값을 JSON으로 출력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185416"/>
            <a:ext cx="5120640" cy="4078224"/>
          </a:xfrm>
          <a:prstGeom prst="roundRect">
            <a:avLst>
              <a:gd name="adj" fmla="val 2242"/>
            </a:avLst>
          </a:prstGeom>
          <a:solidFill>
            <a:srgbClr val="F8FAFF"/>
          </a:solidFill>
          <a:ln w="6350">
            <a:solidFill>
              <a:srgbClr val="BFDBFE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235000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출력 구조 (JSON)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" y="2862072"/>
            <a:ext cx="2377440" cy="274320"/>
          </a:xfrm>
          <a:prstGeom prst="roundRect">
            <a:avLst>
              <a:gd name="adj" fmla="val 13333"/>
            </a:avLst>
          </a:prstGeom>
          <a:solidFill>
            <a:srgbClr val="F2F3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8620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5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primary_cause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0" y="282549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FLOW_ROUTING_ERROR 등 13개 원인 코드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" y="3282696"/>
            <a:ext cx="2377440" cy="274320"/>
          </a:xfrm>
          <a:prstGeom prst="roundRect">
            <a:avLst>
              <a:gd name="adj" fmla="val 13333"/>
            </a:avLst>
          </a:prstGeom>
          <a:solidFill>
            <a:srgbClr val="F2F3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32826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5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responsibility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32461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SDS / 삼성전자콘텐츠 / 검수필요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" y="3703320"/>
            <a:ext cx="2377440" cy="274320"/>
          </a:xfrm>
          <a:prstGeom prst="roundRect">
            <a:avLst>
              <a:gd name="adj" fmla="val 13333"/>
            </a:avLst>
          </a:prstGeom>
          <a:solidFill>
            <a:srgbClr val="F2F3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5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flow_suspicion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0" y="366674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Langflow 흐름 오류 의심 여부 (true/false)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8368" y="4123944"/>
            <a:ext cx="2377440" cy="274320"/>
          </a:xfrm>
          <a:prstGeom prst="roundRect">
            <a:avLst>
              <a:gd name="adj" fmla="val 13333"/>
            </a:avLst>
          </a:prstGeom>
          <a:solidFill>
            <a:srgbClr val="F2F3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41239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5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suspected_component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0" y="40873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의심 Component ID·이름·실행 순서·이유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8368" y="4544568"/>
            <a:ext cx="2377440" cy="274320"/>
          </a:xfrm>
          <a:prstGeom prst="roundRect">
            <a:avLst>
              <a:gd name="adj" fmla="val 13333"/>
            </a:avLst>
          </a:prstGeom>
          <a:solidFill>
            <a:srgbClr val="F2F3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4544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5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0" y="45079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 신뢰도 (0~1)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8368" y="4965192"/>
            <a:ext cx="2377440" cy="274320"/>
          </a:xfrm>
          <a:prstGeom prst="roundRect">
            <a:avLst>
              <a:gd name="adj" fmla="val 13333"/>
            </a:avLst>
          </a:prstGeom>
          <a:solidFill>
            <a:srgbClr val="F2F3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49651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5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needs_review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0" y="492861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검수 큐 이동 여부 (true/false)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8368" y="5385816"/>
            <a:ext cx="2377440" cy="274320"/>
          </a:xfrm>
          <a:prstGeom prst="roundRect">
            <a:avLst>
              <a:gd name="adj" fmla="val 13333"/>
            </a:avLst>
          </a:prstGeom>
          <a:solidFill>
            <a:srgbClr val="F2F3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53858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5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evidence_summary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00400" y="53492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 근거 요약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8368" y="5806440"/>
            <a:ext cx="2377440" cy="274320"/>
          </a:xfrm>
          <a:prstGeom prst="roundRect">
            <a:avLst>
              <a:gd name="adj" fmla="val 13333"/>
            </a:avLst>
          </a:prstGeom>
          <a:solidFill>
            <a:srgbClr val="F2F3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5806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5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recommended_status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00400" y="576986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SDS조치필요 / 콘텐츠개선필요 / …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61888" y="2185416"/>
            <a:ext cx="5769864" cy="4078224"/>
          </a:xfrm>
          <a:prstGeom prst="roundRect">
            <a:avLst>
              <a:gd name="adj" fmla="val 2242"/>
            </a:avLst>
          </a:prstGeom>
          <a:solidFill>
            <a:srgbClr val="FFFBF5"/>
          </a:solidFill>
          <a:ln w="6350">
            <a:solidFill>
              <a:srgbClr val="FED7AA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163056" y="2350008"/>
            <a:ext cx="5404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13개 원인 분류 코드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163056" y="2862072"/>
            <a:ext cx="128016" cy="256032"/>
          </a:xfrm>
          <a:prstGeom prst="roundRect">
            <a:avLst>
              <a:gd name="adj" fmla="val 28571"/>
            </a:avLst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64224" y="282549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환각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476488" y="2880360"/>
            <a:ext cx="914400" cy="237744"/>
          </a:xfrm>
          <a:prstGeom prst="roundRect">
            <a:avLst>
              <a:gd name="adj" fmla="val 23077"/>
            </a:avLst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76488" y="28803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SDS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63056" y="3282696"/>
            <a:ext cx="128016" cy="256032"/>
          </a:xfrm>
          <a:prstGeom prst="roundRect">
            <a:avLst>
              <a:gd name="adj" fmla="val 2857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64224" y="32461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 부실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476488" y="3300984"/>
            <a:ext cx="914400" cy="237744"/>
          </a:xfrm>
          <a:prstGeom prst="roundRect">
            <a:avLst>
              <a:gd name="adj" fmla="val 23077"/>
            </a:avLst>
          </a:prstGeom>
          <a:solidFill>
            <a:srgbClr val="DCFCE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76488" y="33009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삼성전자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163056" y="3703320"/>
            <a:ext cx="128016" cy="256032"/>
          </a:xfrm>
          <a:prstGeom prst="roundRect">
            <a:avLst>
              <a:gd name="adj" fmla="val 28571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64224" y="366674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Context 누락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476488" y="3721608"/>
            <a:ext cx="914400" cy="237744"/>
          </a:xfrm>
          <a:prstGeom prst="roundRect">
            <a:avLst>
              <a:gd name="adj" fmla="val 23077"/>
            </a:avLst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76488" y="37216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SDS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163056" y="4123944"/>
            <a:ext cx="128016" cy="256032"/>
          </a:xfrm>
          <a:prstGeom prst="roundRect">
            <a:avLst>
              <a:gd name="adj" fmla="val 28571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64224" y="408736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답변 품질 문제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476488" y="4142232"/>
            <a:ext cx="914400" cy="237744"/>
          </a:xfrm>
          <a:prstGeom prst="roundRect">
            <a:avLst>
              <a:gd name="adj" fmla="val 23077"/>
            </a:avLst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476488" y="414223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SDS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163056" y="4544568"/>
            <a:ext cx="128016" cy="256032"/>
          </a:xfrm>
          <a:prstGeom prst="roundRect">
            <a:avLst>
              <a:gd name="adj" fmla="val 2857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64224" y="450799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Langflow 흐름 오류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8476488" y="4562856"/>
            <a:ext cx="914400" cy="237744"/>
          </a:xfrm>
          <a:prstGeom prst="roundRect">
            <a:avLst>
              <a:gd name="adj" fmla="val 23077"/>
            </a:avLst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476488" y="45628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SDS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163056" y="4965192"/>
            <a:ext cx="128016" cy="256032"/>
          </a:xfrm>
          <a:prstGeom prst="roundRect">
            <a:avLst>
              <a:gd name="adj" fmla="val 2857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64224" y="492861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강화질의 오류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8476488" y="4983480"/>
            <a:ext cx="914400" cy="237744"/>
          </a:xfrm>
          <a:prstGeom prst="roundRect">
            <a:avLst>
              <a:gd name="adj" fmla="val 23077"/>
            </a:avLst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476488" y="49834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SDS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163056" y="5385816"/>
            <a:ext cx="128016" cy="256032"/>
          </a:xfrm>
          <a:prstGeom prst="roundRect">
            <a:avLst>
              <a:gd name="adj" fmla="val 2857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64224" y="53492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제품분류 오류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8476488" y="5404104"/>
            <a:ext cx="914400" cy="237744"/>
          </a:xfrm>
          <a:prstGeom prst="roundRect">
            <a:avLst>
              <a:gd name="adj" fmla="val 23077"/>
            </a:avLst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476488" y="540410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SDS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163056" y="5806440"/>
            <a:ext cx="128016" cy="256032"/>
          </a:xfrm>
          <a:prstGeom prst="roundRect">
            <a:avLst>
              <a:gd name="adj" fmla="val 28571"/>
            </a:avLst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64224" y="576986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장애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8476488" y="5824728"/>
            <a:ext cx="914400" cy="237744"/>
          </a:xfrm>
          <a:prstGeom prst="roundRect">
            <a:avLst>
              <a:gd name="adj" fmla="val 23077"/>
            </a:avLst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476488" y="58247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SDS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457200" y="6309360"/>
            <a:ext cx="11274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13개 원인 코드: 위 8개 외 SEARCH_FAILURE · NO_RESPONSE · PRODUCT_CODE_EXTRACTION_ERROR · CUSTOMER_MISUNDERSTANDING · UNKNOWN 포함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— 기준 데이터 등록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가지 기준 데이터 등록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NPS 엑셀 업로드 + Langflow Flow JSON 업로드 → 분석의 두 축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185416"/>
            <a:ext cx="5394960" cy="4078224"/>
          </a:xfrm>
          <a:prstGeom prst="roundRect">
            <a:avLst>
              <a:gd name="adj" fmla="val 269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185416"/>
            <a:ext cx="5394960" cy="530352"/>
          </a:xfrm>
          <a:prstGeom prst="roundRect">
            <a:avLst>
              <a:gd name="adj" fmla="val 20690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227685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📥  NPS 엑셀 업로드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" y="2953512"/>
            <a:ext cx="512064" cy="219456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953512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61872" y="28986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챗봇상담 ID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80944" y="2898648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SDS TRACE 조회 기준 키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" y="3374136"/>
            <a:ext cx="512064" cy="219456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374136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261872" y="331927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NPS 점수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80944" y="3319272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저득점(6점 이하) 필터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8368" y="3794760"/>
            <a:ext cx="512064" cy="219456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794760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261872" y="373989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대화내역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80944" y="3739896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대화 텍스트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8368" y="4215384"/>
            <a:ext cx="512064" cy="219456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4215384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261872" y="416052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질문 리스트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980944" y="4160520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입력 질문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8368" y="4636008"/>
            <a:ext cx="512064" cy="219456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4636008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261872" y="458114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답변 전문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980944" y="4581144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챗봇 생성 답변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8368" y="5056632"/>
            <a:ext cx="512064" cy="219456"/>
          </a:xfrm>
          <a:prstGeom prst="roundRect">
            <a:avLst>
              <a:gd name="adj" fmla="val 25000"/>
            </a:avLst>
          </a:prstGeom>
          <a:solidFill>
            <a:srgbClr val="F2F3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5056632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261872" y="500176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코멘트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980944" y="5001768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불만/평가 코멘트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58368" y="5477256"/>
            <a:ext cx="512064" cy="219456"/>
          </a:xfrm>
          <a:prstGeom prst="roundRect">
            <a:avLst>
              <a:gd name="adj" fmla="val 25000"/>
            </a:avLst>
          </a:prstGeom>
          <a:solidFill>
            <a:srgbClr val="F2F3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" y="5477256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261872" y="542239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불만유형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980944" y="5422392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삼성전자 자체 판단값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58368" y="5897880"/>
            <a:ext cx="512064" cy="219456"/>
          </a:xfrm>
          <a:prstGeom prst="roundRect">
            <a:avLst>
              <a:gd name="adj" fmla="val 25000"/>
            </a:avLst>
          </a:prstGeom>
          <a:solidFill>
            <a:srgbClr val="F2F3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" y="5897880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261872" y="584301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발생원인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980944" y="5843016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삼성전자 자체 판단값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45352" y="2185416"/>
            <a:ext cx="5486400" cy="4078224"/>
          </a:xfrm>
          <a:prstGeom prst="roundRect">
            <a:avLst>
              <a:gd name="adj" fmla="val 269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245352" y="2185416"/>
            <a:ext cx="5486400" cy="530352"/>
          </a:xfrm>
          <a:prstGeom prst="roundRect">
            <a:avLst>
              <a:gd name="adj" fmla="val 2069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9944" y="2276856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🔀  Langflow Flow JSON 업로드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6446520" y="2990088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46520" y="2990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812280" y="291693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Langflow UI에서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Flow JSON Export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812280" y="3264408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Flow가 수정될 때마다 최신 JSON을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Insight에 다시 업로드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446520" y="3813048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46520" y="38130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812280" y="373989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Component·Edge·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Python 코드 추출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812280" y="4087368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Flow 구조·연결 관계·Python 코드 자동 파싱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component_id / edge / python_code 저장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446520" y="4636008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46520" y="4636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812280" y="456285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is_active 활성 버전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6812280" y="4910328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시점에는 항상 활성 Flow 버전 기준으로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Component 구조 해석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446520" y="5458968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46520" y="5458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812280" y="538581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Prompt DB 연동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6812280" y="5733288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Component에 연결된 Prompt 전문을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Prompt DB에서 쿼리 조회 → Flow 정의에 포함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상태값 및 검수 흐름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상태값 정의 및 전이 흐름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9개 상태값으로 자동·수동 분석 흐름 관리 — 운영자가 최종 상태값 확정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185416"/>
            <a:ext cx="1155192" cy="1417320"/>
          </a:xfrm>
          <a:prstGeom prst="roundRect">
            <a:avLst>
              <a:gd name="adj" fmla="val 7916"/>
            </a:avLst>
          </a:prstGeom>
          <a:solidFill>
            <a:srgbClr val="F9FAFB"/>
          </a:solidFill>
          <a:ln w="6350">
            <a:solidFill>
              <a:srgbClr val="8E8E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85416"/>
            <a:ext cx="1155192" cy="36576"/>
          </a:xfrm>
          <a:prstGeom prst="rect">
            <a:avLst/>
          </a:prstGeom>
          <a:solidFill>
            <a:srgbClr val="8E8E93"/>
          </a:solidFill>
          <a:ln w="12700">
            <a:solidFill>
              <a:srgbClr val="8E8E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2313432"/>
            <a:ext cx="1045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미분석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0352" y="3063240"/>
            <a:ext cx="1008888" cy="219456"/>
          </a:xfrm>
          <a:prstGeom prst="roundRect">
            <a:avLst>
              <a:gd name="adj" fmla="val 3333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3063240"/>
            <a:ext cx="1008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722120" y="2185416"/>
            <a:ext cx="1155192" cy="1417320"/>
          </a:xfrm>
          <a:prstGeom prst="roundRect">
            <a:avLst>
              <a:gd name="adj" fmla="val 7916"/>
            </a:avLst>
          </a:prstGeom>
          <a:solidFill>
            <a:srgbClr val="EFF6FF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22120" y="2185416"/>
            <a:ext cx="1155192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76984" y="2313432"/>
            <a:ext cx="1045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B82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분석중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795272" y="3063240"/>
            <a:ext cx="1008888" cy="219456"/>
          </a:xfrm>
          <a:prstGeom prst="roundRect">
            <a:avLst>
              <a:gd name="adj" fmla="val 3333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95272" y="3063240"/>
            <a:ext cx="1008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987040" y="2185416"/>
            <a:ext cx="1155192" cy="1417320"/>
          </a:xfrm>
          <a:prstGeom prst="roundRect">
            <a:avLst>
              <a:gd name="adj" fmla="val 7916"/>
            </a:avLst>
          </a:prstGeom>
          <a:solidFill>
            <a:srgbClr val="F0F9FF"/>
          </a:solidFill>
          <a:ln w="6350">
            <a:solidFill>
              <a:srgbClr val="60A5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87040" y="2185416"/>
            <a:ext cx="1155192" cy="36576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41904" y="2313432"/>
            <a:ext cx="1045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분석완료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060192" y="3063240"/>
            <a:ext cx="1008888" cy="219456"/>
          </a:xfrm>
          <a:prstGeom prst="roundRect">
            <a:avLst>
              <a:gd name="adj" fmla="val 3333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60192" y="3063240"/>
            <a:ext cx="1008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51960" y="2185416"/>
            <a:ext cx="1155192" cy="1417320"/>
          </a:xfrm>
          <a:prstGeom prst="roundRect">
            <a:avLst>
              <a:gd name="adj" fmla="val 7916"/>
            </a:avLst>
          </a:prstGeom>
          <a:solidFill>
            <a:srgbClr val="FFF7ED"/>
          </a:solidFill>
          <a:ln w="6350">
            <a:solidFill>
              <a:srgbClr val="EA580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51960" y="2185416"/>
            <a:ext cx="1155192" cy="3657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06824" y="2313432"/>
            <a:ext cx="1045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검수필요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25112" y="3063240"/>
            <a:ext cx="1008888" cy="219456"/>
          </a:xfrm>
          <a:prstGeom prst="roundRect">
            <a:avLst>
              <a:gd name="adj" fmla="val 3333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25112" y="3063240"/>
            <a:ext cx="1008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516880" y="2185416"/>
            <a:ext cx="1155192" cy="1417320"/>
          </a:xfrm>
          <a:prstGeom prst="roundRect">
            <a:avLst>
              <a:gd name="adj" fmla="val 7916"/>
            </a:avLst>
          </a:prstGeom>
          <a:solidFill>
            <a:srgbClr val="EFF6FF"/>
          </a:solidFill>
          <a:ln w="6350">
            <a:solidFill>
              <a:srgbClr val="1456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16880" y="2185416"/>
            <a:ext cx="1155192" cy="36576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1744" y="2313432"/>
            <a:ext cx="1045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SDS조치필요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590032" y="3063240"/>
            <a:ext cx="1008888" cy="219456"/>
          </a:xfrm>
          <a:prstGeom prst="roundRect">
            <a:avLst>
              <a:gd name="adj" fmla="val 3333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90032" y="3063240"/>
            <a:ext cx="1008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자동/수동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781800" y="2185416"/>
            <a:ext cx="1155192" cy="1417320"/>
          </a:xfrm>
          <a:prstGeom prst="roundRect">
            <a:avLst>
              <a:gd name="adj" fmla="val 7916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81800" y="2185416"/>
            <a:ext cx="1155192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36664" y="2313432"/>
            <a:ext cx="1045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콘텐츠개선필요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854952" y="3063240"/>
            <a:ext cx="1008888" cy="219456"/>
          </a:xfrm>
          <a:prstGeom prst="roundRect">
            <a:avLst>
              <a:gd name="adj" fmla="val 3333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4952" y="3063240"/>
            <a:ext cx="1008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자동/수동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046720" y="2185416"/>
            <a:ext cx="1155192" cy="1417320"/>
          </a:xfrm>
          <a:prstGeom prst="roundRect">
            <a:avLst>
              <a:gd name="adj" fmla="val 7916"/>
            </a:avLst>
          </a:prstGeom>
          <a:solidFill>
            <a:srgbClr val="EDE9F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46720" y="2185416"/>
            <a:ext cx="1155192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01584" y="2313432"/>
            <a:ext cx="1045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Langflow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흐름의심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119872" y="3063240"/>
            <a:ext cx="1008888" cy="219456"/>
          </a:xfrm>
          <a:prstGeom prst="roundRect">
            <a:avLst>
              <a:gd name="adj" fmla="val 3333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19872" y="3063240"/>
            <a:ext cx="1008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자동/수동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311640" y="2185416"/>
            <a:ext cx="1155192" cy="1417320"/>
          </a:xfrm>
          <a:prstGeom prst="roundRect">
            <a:avLst>
              <a:gd name="adj" fmla="val 7916"/>
            </a:avLst>
          </a:prstGeom>
          <a:solidFill>
            <a:srgbClr val="F2F3F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311640" y="2185416"/>
            <a:ext cx="1155192" cy="36576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366504" y="2313432"/>
            <a:ext cx="1045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384792" y="3063240"/>
            <a:ext cx="1008888" cy="219456"/>
          </a:xfrm>
          <a:prstGeom prst="roundRect">
            <a:avLst>
              <a:gd name="adj" fmla="val 3333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384792" y="3063240"/>
            <a:ext cx="1008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수동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0576560" y="2185416"/>
            <a:ext cx="1155192" cy="1417320"/>
          </a:xfrm>
          <a:prstGeom prst="roundRect">
            <a:avLst>
              <a:gd name="adj" fmla="val 7916"/>
            </a:avLst>
          </a:prstGeom>
          <a:solidFill>
            <a:srgbClr val="FEE2E2"/>
          </a:solidFill>
          <a:ln w="6350">
            <a:solidFill>
              <a:srgbClr val="991B1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576560" y="2185416"/>
            <a:ext cx="1155192" cy="36576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631424" y="2313432"/>
            <a:ext cx="1045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분석실패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0649712" y="3063240"/>
            <a:ext cx="1008888" cy="219456"/>
          </a:xfrm>
          <a:prstGeom prst="roundRect">
            <a:avLst>
              <a:gd name="adj" fmla="val 3333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649712" y="3063240"/>
            <a:ext cx="1008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</a:t>
            </a:r>
            <a:endParaRPr lang="en-US" sz="900" dirty="0"/>
          </a:p>
        </p:txBody>
      </p:sp>
      <p:pic>
        <p:nvPicPr>
          <p:cNvPr id="51" name="Image 0" descr="diagrams/preso_9_2_st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749040"/>
            <a:ext cx="11274552" cy="2487168"/>
          </a:xfrm>
          <a:prstGeom prst="rect">
            <a:avLst/>
          </a:prstGeom>
        </p:spPr>
      </p:pic>
      <p:sp>
        <p:nvSpPr>
          <p:cNvPr id="52" name="Text 49"/>
          <p:cNvSpPr/>
          <p:nvPr/>
        </p:nvSpPr>
        <p:spPr>
          <a:xfrm>
            <a:off x="457200" y="6309360"/>
            <a:ext cx="11274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RAG Insight 상태값 정의 v0.1.4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및 메뉴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운영자 화면 구성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9개 메뉴로 분석 전 주기를 커버 — 업로드부터 검수 확정, 대시보드까지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212848"/>
            <a:ext cx="3666744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2340864"/>
            <a:ext cx="3392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📊 대시보드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" y="2706624"/>
            <a:ext cx="3337560" cy="0"/>
          </a:xfrm>
          <a:prstGeom prst="line">
            <a:avLst/>
          </a:prstGeom>
          <a:noFill/>
          <a:ln w="6350">
            <a:solidFill>
              <a:srgbClr val="F2F3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779776"/>
            <a:ext cx="33924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현황 요약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업로드 건·원인 분포·책임 비율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61104" y="2212848"/>
            <a:ext cx="3666744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25696" y="2340864"/>
            <a:ext cx="3392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📤 기준 데이터 업로드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25696" y="2706624"/>
            <a:ext cx="3337560" cy="0"/>
          </a:xfrm>
          <a:prstGeom prst="line">
            <a:avLst/>
          </a:prstGeom>
          <a:noFill/>
          <a:ln w="6350">
            <a:solidFill>
              <a:srgbClr val="F2F3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25696" y="2779776"/>
            <a:ext cx="33924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NPS 엑셀 업로드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Langflow Flow JSON 업로드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65008" y="2212848"/>
            <a:ext cx="3666744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0" y="2340864"/>
            <a:ext cx="3392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🔀 Flow JSON 관리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0" y="2706624"/>
            <a:ext cx="3337560" cy="0"/>
          </a:xfrm>
          <a:prstGeom prst="line">
            <a:avLst/>
          </a:prstGeom>
          <a:noFill/>
          <a:ln w="6350">
            <a:solidFill>
              <a:srgbClr val="F2F3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2779776"/>
            <a:ext cx="33924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Flow 버전 이력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updated_at·활성 버전 지정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602736"/>
            <a:ext cx="3666744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1792" y="3730752"/>
            <a:ext cx="3392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📋 업로드 건 목록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792" y="4096512"/>
            <a:ext cx="3337560" cy="0"/>
          </a:xfrm>
          <a:prstGeom prst="line">
            <a:avLst/>
          </a:prstGeom>
          <a:noFill/>
          <a:ln w="6350">
            <a:solidFill>
              <a:srgbClr val="F2F3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4169664"/>
            <a:ext cx="33924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단위 분석 현황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건수·완료·오류 수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61104" y="3602736"/>
            <a:ext cx="3666744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425696" y="3730752"/>
            <a:ext cx="3392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🔍 상담 분석 목록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425696" y="4096512"/>
            <a:ext cx="3337560" cy="0"/>
          </a:xfrm>
          <a:prstGeom prst="line">
            <a:avLst/>
          </a:prstGeom>
          <a:noFill/>
          <a:ln w="6350">
            <a:solidFill>
              <a:srgbClr val="F2F3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25696" y="4169664"/>
            <a:ext cx="33924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상담 ID·NPS·원인·책임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신뢰도·상태값 목록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065008" y="3602736"/>
            <a:ext cx="3666744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229600" y="3730752"/>
            <a:ext cx="3392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📄 상담 상세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229600" y="4096512"/>
            <a:ext cx="3337560" cy="0"/>
          </a:xfrm>
          <a:prstGeom prst="line">
            <a:avLst/>
          </a:prstGeom>
          <a:noFill/>
          <a:ln w="6350">
            <a:solidFill>
              <a:srgbClr val="F2F3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4169664"/>
            <a:ext cx="33924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원본·TRACE·Flow 구조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Runtime Log·LLM 분석 결과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992624"/>
            <a:ext cx="3666744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21792" y="5120640"/>
            <a:ext cx="3392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🔎 TRACE/Flow 상세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21792" y="5486400"/>
            <a:ext cx="3337560" cy="0"/>
          </a:xfrm>
          <a:prstGeom prst="line">
            <a:avLst/>
          </a:prstGeom>
          <a:noFill/>
          <a:ln w="6350">
            <a:solidFill>
              <a:srgbClr val="F2F3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" y="5559552"/>
            <a:ext cx="33924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SDS TRACE·Runtime Log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Component 실행 순서·경로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261104" y="4992624"/>
            <a:ext cx="3666744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425696" y="5120640"/>
            <a:ext cx="3392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 저신뢰 검수 큐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425696" y="5486400"/>
            <a:ext cx="3337560" cy="0"/>
          </a:xfrm>
          <a:prstGeom prst="line">
            <a:avLst/>
          </a:prstGeom>
          <a:noFill/>
          <a:ln w="6350">
            <a:solidFill>
              <a:srgbClr val="F2F3F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25696" y="5559552"/>
            <a:ext cx="33924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저신뢰·판단충돌 건 확정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운영자 최종 원인·상태값 결정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065008" y="4992624"/>
            <a:ext cx="3666744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229600" y="5120640"/>
            <a:ext cx="3392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⚙️ 설정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8229600" y="5486400"/>
            <a:ext cx="3337560" cy="0"/>
          </a:xfrm>
          <a:prstGeom prst="line">
            <a:avLst/>
          </a:prstGeom>
          <a:noFill/>
          <a:ln w="6350">
            <a:solidFill>
              <a:srgbClr val="F2F3F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0" y="5559552"/>
            <a:ext cx="33924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원인 코드·confidence 기준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기준 관리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아키텍처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구조 및 핵심 테이블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PostgreSQL rag_insight 스키마 — 7개 핵심 테이블로 전체 분석 이력 관리</a:t>
            </a:r>
            <a:endParaRPr lang="en-US" sz="1500" dirty="0"/>
          </a:p>
        </p:txBody>
      </p:sp>
      <p:pic>
        <p:nvPicPr>
          <p:cNvPr id="6" name="Image 0" descr="diagrams/7_1_data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40280"/>
            <a:ext cx="5943600" cy="3931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83680" y="2185416"/>
            <a:ext cx="514807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83680" y="2185416"/>
            <a:ext cx="128016" cy="457200"/>
          </a:xfrm>
          <a:prstGeom prst="roundRect">
            <a:avLst>
              <a:gd name="adj" fmla="val 28571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12280" y="22219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5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upload_batches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12280" y="2423160"/>
            <a:ext cx="4782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NPS 엑셀·Flow JSON 업로드 이력 및 파일 메타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583680" y="2734056"/>
            <a:ext cx="514807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0" y="2734056"/>
            <a:ext cx="128016" cy="457200"/>
          </a:xfrm>
          <a:prstGeom prst="roundRect">
            <a:avLst>
              <a:gd name="adj" fmla="val 28571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12280" y="27706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nps_cases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812280" y="2971800"/>
            <a:ext cx="4782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상담 건별 원본 데이터·상태값·분석 연결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583680" y="3282696"/>
            <a:ext cx="514807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83680" y="3282696"/>
            <a:ext cx="128016" cy="457200"/>
          </a:xfrm>
          <a:prstGeom prst="roundRect">
            <a:avLst>
              <a:gd name="adj" fmla="val 2857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12280" y="33192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langflow_flow_versions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812280" y="3520440"/>
            <a:ext cx="4782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Flow 버전 이력·is_active·updated_at 관리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583680" y="3831336"/>
            <a:ext cx="514807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583680" y="3831336"/>
            <a:ext cx="128016" cy="457200"/>
          </a:xfrm>
          <a:prstGeom prst="roundRect">
            <a:avLst>
              <a:gd name="adj" fmla="val 2857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812280" y="38679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langflow_components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812280" y="4069080"/>
            <a:ext cx="4782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Component 구조·Python 코드 원문 저장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583680" y="4379976"/>
            <a:ext cx="514807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583680" y="4379976"/>
            <a:ext cx="128016" cy="457200"/>
          </a:xfrm>
          <a:prstGeom prst="roundRect">
            <a:avLst>
              <a:gd name="adj" fmla="val 28571"/>
            </a:avLst>
          </a:prstGeom>
          <a:solidFill>
            <a:srgbClr val="45515E"/>
          </a:solidFill>
          <a:ln w="12700">
            <a:solidFill>
              <a:srgbClr val="45515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12280" y="44165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551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trace_links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812280" y="4617720"/>
            <a:ext cx="4782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SDS TRACE·Runtime Log·Context 연결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583680" y="4928616"/>
            <a:ext cx="514807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583680" y="4928616"/>
            <a:ext cx="128016" cy="457200"/>
          </a:xfrm>
          <a:prstGeom prst="roundRect">
            <a:avLst>
              <a:gd name="adj" fmla="val 28571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812280" y="49651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5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analysis_results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812280" y="5166360"/>
            <a:ext cx="4782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Gauss LLM 판단 결과·의심 Component 저장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583680" y="5477256"/>
            <a:ext cx="514807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583680" y="5477256"/>
            <a:ext cx="128016" cy="457200"/>
          </a:xfrm>
          <a:prstGeom prst="roundRect">
            <a:avLst>
              <a:gd name="adj" fmla="val 28571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812280" y="55138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review_queue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6812280" y="5715000"/>
            <a:ext cx="4782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저신뢰 검수 큐·운영자 확정 이력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457200" y="6309360"/>
            <a:ext cx="11274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RAG Insight 데이터 아키텍처 v0.1.4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스택 · 권한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스택 및 권한 체계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· Python · PostgreSQL · Gauss LLM · K8S — 4개 역할 기반 접근 제어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185416"/>
            <a:ext cx="6858000" cy="4078224"/>
          </a:xfrm>
          <a:prstGeom prst="roundRect">
            <a:avLst>
              <a:gd name="adj" fmla="val 2691"/>
            </a:avLst>
          </a:prstGeom>
          <a:solidFill>
            <a:srgbClr val="F8FA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2350008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스택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" y="282549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Frontend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29968" y="2889504"/>
            <a:ext cx="91440" cy="201168"/>
          </a:xfrm>
          <a:prstGeom prst="roundRect">
            <a:avLst>
              <a:gd name="adj" fmla="val 40000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49424" y="282549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" y="325526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Backend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29968" y="3319272"/>
            <a:ext cx="91440" cy="201168"/>
          </a:xfrm>
          <a:prstGeom prst="roundRect">
            <a:avLst>
              <a:gd name="adj" fmla="val 4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49424" y="325526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Python (API · Parser · Worker)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368503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29968" y="3749040"/>
            <a:ext cx="91440" cy="201168"/>
          </a:xfrm>
          <a:prstGeom prst="roundRect">
            <a:avLst>
              <a:gd name="adj" fmla="val 40000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49424" y="368503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PostgreSQL (rag_insight 스키마)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" y="41148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029968" y="4178808"/>
            <a:ext cx="91440" cy="201168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49424" y="411480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Gauss LLM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" y="454456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Log Source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029968" y="4608576"/>
            <a:ext cx="91440" cy="201168"/>
          </a:xfrm>
          <a:prstGeom prst="roundRect">
            <a:avLst>
              <a:gd name="adj" fmla="val 40000"/>
            </a:avLst>
          </a:prstGeom>
          <a:solidFill>
            <a:srgbClr val="45515E"/>
          </a:solidFill>
          <a:ln w="12700">
            <a:solidFill>
              <a:srgbClr val="4551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49424" y="454456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SDS TRACE / Object Storage / Langflow Runtime Log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" y="497433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Workflow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029968" y="5038344"/>
            <a:ext cx="91440" cy="201168"/>
          </a:xfrm>
          <a:prstGeom prst="roundRect">
            <a:avLst>
              <a:gd name="adj" fmla="val 4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49424" y="497433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Langflow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8368" y="540410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Infra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029968" y="5468112"/>
            <a:ext cx="91440" cy="201168"/>
          </a:xfrm>
          <a:prstGeom prst="roundRect">
            <a:avLst>
              <a:gd name="adj" fmla="val 40000"/>
            </a:avLst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49424" y="540410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Kubernetes (K8S)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8368" y="583387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Auth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029968" y="5897880"/>
            <a:ext cx="91440" cy="201168"/>
          </a:xfrm>
          <a:prstGeom prst="roundRect">
            <a:avLst>
              <a:gd name="adj" fmla="val 40000"/>
            </a:avLst>
          </a:prstGeom>
          <a:solidFill>
            <a:srgbClr val="8E8E93"/>
          </a:solidFill>
          <a:ln w="12700">
            <a:solidFill>
              <a:srgbClr val="8E8E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49424" y="583387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사내 인증 연계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662672" y="2185416"/>
            <a:ext cx="4069080" cy="4078224"/>
          </a:xfrm>
          <a:prstGeom prst="roundRect">
            <a:avLst>
              <a:gd name="adj" fmla="val 2697"/>
            </a:avLst>
          </a:prstGeom>
          <a:solidFill>
            <a:srgbClr val="FFFBF5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863840" y="2350008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58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권한 체계 (4 Role)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7863840" y="2825496"/>
            <a:ext cx="3666744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863840" y="2825496"/>
            <a:ext cx="1097280" cy="786384"/>
          </a:xfrm>
          <a:prstGeom prst="roundRect">
            <a:avLst>
              <a:gd name="adj" fmla="val 9302"/>
            </a:avLst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63840" y="2825496"/>
            <a:ext cx="1097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034272" y="2971800"/>
            <a:ext cx="24780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원인 코드·상태값·confidence 기준·활성 Flow JSON·프롬프트 기준 관리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863840" y="3739896"/>
            <a:ext cx="3666744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863840" y="3739896"/>
            <a:ext cx="1097280" cy="786384"/>
          </a:xfrm>
          <a:prstGeom prst="roundRect">
            <a:avLst>
              <a:gd name="adj" fmla="val 9302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63840" y="3739896"/>
            <a:ext cx="1097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Reviewer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034272" y="3886200"/>
            <a:ext cx="24780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저신뢰 검수 큐 확인, 분석 결과 수정 및 최종 확정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863840" y="4654296"/>
            <a:ext cx="3666744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63840" y="4654296"/>
            <a:ext cx="1097280" cy="786384"/>
          </a:xfrm>
          <a:prstGeom prst="roundRect">
            <a:avLst>
              <a:gd name="adj" fmla="val 9302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63840" y="4654296"/>
            <a:ext cx="1097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Operator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9034272" y="4800600"/>
            <a:ext cx="24780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NPS 엑셀·Flow JSON 업로드, 자동 분석 실행, 상태 변경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863840" y="5568696"/>
            <a:ext cx="3666744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863840" y="5568696"/>
            <a:ext cx="1097280" cy="786384"/>
          </a:xfrm>
          <a:prstGeom prst="roundRect">
            <a:avLst>
              <a:gd name="adj" fmla="val 9302"/>
            </a:avLst>
          </a:prstGeom>
          <a:solidFill>
            <a:srgbClr val="45515E"/>
          </a:solidFill>
          <a:ln w="12700">
            <a:solidFill>
              <a:srgbClr val="45515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863840" y="5568696"/>
            <a:ext cx="1097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Viewer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9034272" y="5715000"/>
            <a:ext cx="24780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대시보드·업로드 건·상담 목록·상세 조회 (읽기 전용)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81E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804672"/>
            <a:ext cx="11274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B91F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요약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Insight NPS 운영 분석툴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457200" y="2249424"/>
            <a:ext cx="420624" cy="384048"/>
          </a:xfrm>
          <a:prstGeom prst="roundRect">
            <a:avLst>
              <a:gd name="adj" fmla="val 19048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49424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87552" y="22128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NPS 엑셀 + Flow JSON 업로드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0" y="221284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삼성전자에서 받은 NPS 저득점 데이터와 최신 Langflow Flow JSON을 기준으로 분석 대상 생성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11274552" cy="0"/>
          </a:xfrm>
          <a:prstGeom prst="line">
            <a:avLst/>
          </a:prstGeom>
          <a:noFill/>
          <a:ln w="6350">
            <a:solidFill>
              <a:srgbClr val="37415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108960"/>
            <a:ext cx="420624" cy="384048"/>
          </a:xfrm>
          <a:prstGeom prst="roundRect">
            <a:avLst>
              <a:gd name="adj" fmla="val 19048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108960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7552" y="307238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5개 데이터 소스 종합 수집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3072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SDS TRACE · Flow JSON · Prompt DB · Runtime Log · 상담 원본을 Evidence Builder가 구조화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877056"/>
            <a:ext cx="11274552" cy="0"/>
          </a:xfrm>
          <a:prstGeom prst="line">
            <a:avLst/>
          </a:prstGeom>
          <a:noFill/>
          <a:ln w="6350">
            <a:solidFill>
              <a:srgbClr val="37415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968496"/>
            <a:ext cx="420624" cy="384048"/>
          </a:xfrm>
          <a:prstGeom prst="roundRect">
            <a:avLst>
              <a:gd name="adj" fmla="val 19048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968496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87552" y="3931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Gauss LLM 자동 원인 판단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89120" y="39319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13개 원인 코드 · 책임 영역 · 신뢰도 · 의심 Component · 권장 상태값을 JSON으로 자동 출력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736592"/>
            <a:ext cx="11274552" cy="0"/>
          </a:xfrm>
          <a:prstGeom prst="line">
            <a:avLst/>
          </a:prstGeom>
          <a:noFill/>
          <a:ln w="6350">
            <a:solidFill>
              <a:srgbClr val="37415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828032"/>
            <a:ext cx="420624" cy="384048"/>
          </a:xfrm>
          <a:prstGeom prst="roundRect">
            <a:avLst>
              <a:gd name="adj" fmla="val 19048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828032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87552" y="479145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3분류 책임 체계 + 상태값 관리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89120" y="479145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SDS조치필요 / 콘텐츠개선필요 / 검수필요 + 9개 상태값으로 분석 전 주기 추적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5596128"/>
            <a:ext cx="11274552" cy="0"/>
          </a:xfrm>
          <a:prstGeom prst="line">
            <a:avLst/>
          </a:prstGeom>
          <a:noFill/>
          <a:ln w="6350">
            <a:solidFill>
              <a:srgbClr val="37415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5687568"/>
            <a:ext cx="420624" cy="384048"/>
          </a:xfrm>
          <a:prstGeom prst="roundRect">
            <a:avLst>
              <a:gd name="adj" fmla="val 19048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5687568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87552" y="565099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운영자 검수 큐 → 상태값 확정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389120" y="56509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저신뢰·판단충돌 건은 검수 큐로 분리 → 운영자가 최종 원인·책임·상태값 확정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Revision v0.1.4  ·  2026-06-24  ·  Samsung SDS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1300</Words>
  <Application>Microsoft Office PowerPoint</Application>
  <PresentationFormat>와이드스크린</PresentationFormat>
  <Paragraphs>312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Pretendard</vt:lpstr>
      <vt:lpstr>맑은 고딕</vt:lpstr>
      <vt:lpstr>Arial</vt:lpstr>
      <vt:lpstr>Calibri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JKH</cp:lastModifiedBy>
  <cp:revision>1</cp:revision>
  <dcterms:created xsi:type="dcterms:W3CDTF">2026-06-24T04:06:42Z</dcterms:created>
  <dcterms:modified xsi:type="dcterms:W3CDTF">2026-06-24T04:36:14Z</dcterms:modified>
</cp:coreProperties>
</file>